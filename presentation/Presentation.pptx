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6" r:id="rId22"/>
    <p:sldId id="279"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522" autoAdjust="0"/>
  </p:normalViewPr>
  <p:slideViewPr>
    <p:cSldViewPr snapToGrid="0">
      <p:cViewPr varScale="1">
        <p:scale>
          <a:sx n="55" d="100"/>
          <a:sy n="55" d="100"/>
        </p:scale>
        <p:origin x="1122" y="28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F8ABB-A048-452F-9AB8-24D5BA9F8CF5}"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29CC6-5E55-4726-98C3-B3E14BE45008}" type="slidenum">
              <a:rPr lang="en-US" smtClean="0"/>
              <a:t>‹#›</a:t>
            </a:fld>
            <a:endParaRPr lang="en-US"/>
          </a:p>
        </p:txBody>
      </p:sp>
    </p:spTree>
    <p:extLst>
      <p:ext uri="{BB962C8B-B14F-4D97-AF65-F5344CB8AC3E}">
        <p14:creationId xmlns:p14="http://schemas.microsoft.com/office/powerpoint/2010/main" val="4096983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 am presenting my thesis on commercial banks and monetary policy. The title is Monetary Policy, Deposit Funding Shocks and Bank Credit Supply: Bank-Level IV Evidence. </a:t>
            </a:r>
          </a:p>
        </p:txBody>
      </p:sp>
      <p:sp>
        <p:nvSpPr>
          <p:cNvPr id="4" name="Slide Number Placeholder 3"/>
          <p:cNvSpPr>
            <a:spLocks noGrp="1"/>
          </p:cNvSpPr>
          <p:nvPr>
            <p:ph type="sldNum" sz="quarter" idx="5"/>
          </p:nvPr>
        </p:nvSpPr>
        <p:spPr/>
        <p:txBody>
          <a:bodyPr/>
          <a:lstStyle/>
          <a:p>
            <a:fld id="{F8629CC6-5E55-4726-98C3-B3E14BE45008}" type="slidenum">
              <a:rPr lang="en-US" smtClean="0"/>
              <a:t>1</a:t>
            </a:fld>
            <a:endParaRPr lang="en-US"/>
          </a:p>
        </p:txBody>
      </p:sp>
    </p:spTree>
    <p:extLst>
      <p:ext uri="{BB962C8B-B14F-4D97-AF65-F5344CB8AC3E}">
        <p14:creationId xmlns:p14="http://schemas.microsoft.com/office/powerpoint/2010/main" val="1988581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start with motivation and some literature background. And then I will introduce the deposit channel of monetary policy, formulated by </a:t>
            </a:r>
            <a:r>
              <a:rPr lang="en-US" dirty="0" err="1"/>
              <a:t>Dreschsler</a:t>
            </a:r>
            <a:r>
              <a:rPr lang="en-US" dirty="0"/>
              <a:t> </a:t>
            </a:r>
            <a:r>
              <a:rPr lang="en-US" dirty="0" err="1"/>
              <a:t>Savov</a:t>
            </a:r>
            <a:r>
              <a:rPr lang="en-US" dirty="0"/>
              <a:t> and Schnabl 2016, before explaining the its critiques from the literature. Then I will proceed to introduce my reformulated deposit channel of monetary policy, and my empirical strategy and results. I will conclude by discussing the academic and policy implications of my results. </a:t>
            </a:r>
          </a:p>
        </p:txBody>
      </p:sp>
      <p:sp>
        <p:nvSpPr>
          <p:cNvPr id="4" name="Slide Number Placeholder 3"/>
          <p:cNvSpPr>
            <a:spLocks noGrp="1"/>
          </p:cNvSpPr>
          <p:nvPr>
            <p:ph type="sldNum" sz="quarter" idx="5"/>
          </p:nvPr>
        </p:nvSpPr>
        <p:spPr/>
        <p:txBody>
          <a:bodyPr/>
          <a:lstStyle/>
          <a:p>
            <a:fld id="{F8629CC6-5E55-4726-98C3-B3E14BE45008}" type="slidenum">
              <a:rPr lang="en-US" smtClean="0"/>
              <a:t>2</a:t>
            </a:fld>
            <a:endParaRPr lang="en-US"/>
          </a:p>
        </p:txBody>
      </p:sp>
    </p:spTree>
    <p:extLst>
      <p:ext uri="{BB962C8B-B14F-4D97-AF65-F5344CB8AC3E}">
        <p14:creationId xmlns:p14="http://schemas.microsoft.com/office/powerpoint/2010/main" val="1702776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looks inside the “black box” of how interest rate policy is transmitted to the real economy. In most macro 101 stories, this is framed as a demand-side channel: when the central bank raises rates, borrowing becomes more expensive, so investment and consumption fall, and vice versa. Keynes already questioned how powerful this is for fixed investment, noting that fluctuations in the marginal efficiency of capital can dwarf normal rate changes. That would suggest the main demand-side effect is on household spending, and, more concretely, on interest-sensitive items like mortgages and auto loans when the long end of the yield curve moves. How strong this demand channel really is </a:t>
            </a:r>
            <a:r>
              <a:rPr lang="en-US" dirty="0" err="1"/>
              <a:t>is</a:t>
            </a:r>
            <a:r>
              <a:rPr lang="en-US" dirty="0"/>
              <a:t> an empirical question, but it is not the focus today.</a:t>
            </a:r>
          </a:p>
          <a:p>
            <a:endParaRPr lang="en-US" dirty="0"/>
          </a:p>
          <a:p>
            <a:r>
              <a:rPr lang="en-US" dirty="0"/>
              <a:t>Instead, this paper focuses on how interest rate policy affects </a:t>
            </a:r>
            <a:r>
              <a:rPr lang="en-US" b="1" dirty="0"/>
              <a:t>credit supply</a:t>
            </a:r>
            <a:r>
              <a:rPr lang="en-US" dirty="0"/>
              <a:t>. Keynes and Minsky both stressed the central role of bankers in shaping aggregate demand, and Schumpeter famously described bankers as the “ephors of capitalism.” Credit flows are determined jointly by the willingness to borrow and the willingness to lend. Unlike the textbook demand story, the way policy moves banks’ willingness to lend is not obvious. This paper provides reduced-form evidence on a credit-supply channel of monetary policy, working through banks’ deposit funding conditions, and points to some possible micro mechanisms behind that channel. I would like to note that throughout the talk I will speak in terms of rate hikes as the monetary policy shock, because all of the empirical evidence I use comes from the most recent tightening cycle.</a:t>
            </a:r>
          </a:p>
        </p:txBody>
      </p:sp>
      <p:sp>
        <p:nvSpPr>
          <p:cNvPr id="4" name="Slide Number Placeholder 3"/>
          <p:cNvSpPr>
            <a:spLocks noGrp="1"/>
          </p:cNvSpPr>
          <p:nvPr>
            <p:ph type="sldNum" sz="quarter" idx="5"/>
          </p:nvPr>
        </p:nvSpPr>
        <p:spPr/>
        <p:txBody>
          <a:bodyPr/>
          <a:lstStyle/>
          <a:p>
            <a:fld id="{F8629CC6-5E55-4726-98C3-B3E14BE45008}" type="slidenum">
              <a:rPr lang="en-US" smtClean="0"/>
              <a:t>3</a:t>
            </a:fld>
            <a:endParaRPr lang="en-US"/>
          </a:p>
        </p:txBody>
      </p:sp>
    </p:spTree>
    <p:extLst>
      <p:ext uri="{BB962C8B-B14F-4D97-AF65-F5344CB8AC3E}">
        <p14:creationId xmlns:p14="http://schemas.microsoft.com/office/powerpoint/2010/main" val="3971486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briefly walk through a few main channels of interest-rate transmission in the literature.</a:t>
            </a:r>
          </a:p>
          <a:p>
            <a:endParaRPr lang="en-US" dirty="0"/>
          </a:p>
          <a:p>
            <a:r>
              <a:rPr lang="en-US" dirty="0"/>
              <a:t>The first one is the textbook “interest rate” channel, which I already hinted at. The story is that when the central bank raises the overnight rate, the whole yield curve magically shifts up, borrowing costs go up, and households and firms cut back on credit demand and spending. In more sophisticated versions, it is not any single overnight rate move that matters, but changes in the whole </a:t>
            </a:r>
            <a:r>
              <a:rPr lang="en-US" i="1" dirty="0"/>
              <a:t>expected</a:t>
            </a:r>
            <a:r>
              <a:rPr lang="en-US" dirty="0"/>
              <a:t> path of short rates. Forward guidance shifts the expected yield curve, and that is what moves investment and consumption.</a:t>
            </a:r>
          </a:p>
          <a:p>
            <a:endParaRPr lang="en-US" dirty="0"/>
          </a:p>
          <a:p>
            <a:r>
              <a:rPr lang="en-US" dirty="0"/>
              <a:t>The second channel is the reserve / money-multiplier channel, which is basically outdated. The idea, originally popular in Bernanke-style discussions, is that the central bank controls interest rates by changing the quantity of reserves, which then gets multiplied into deposits and loans. This channel is either obsolete or was never really operative: banks can borrow reserves in interbank and wholesale markets, and they can change their liability mix to relax reserve requirements, as emphasized by Minsky and Basil Moore. On top of that, the U.S. no longer has reserve requirements for deposits.</a:t>
            </a:r>
          </a:p>
          <a:p>
            <a:endParaRPr lang="en-US" dirty="0"/>
          </a:p>
          <a:p>
            <a:r>
              <a:rPr lang="en-US" dirty="0"/>
              <a:t>The third channel is the “credit channel” in Bernanke and coauthors. There are two parts. On the borrower side, a rate hike and the associated economic slowdown (assumed from the first textbook channel ofc) can damage borrower balance sheets, lower collateral values, and increase default risk, so banks become less willing to lend even at the same interest rate. On the bank side, higher rates can reduce the market value of banks’ assets and compress profitability; weaker bank balance sheets make banks more cautious, so they cut back on lending out of liquidity and solvency concerns. In both cases, the balance sheet position of borrowers and banks amplifies the initial interest-rate shock.</a:t>
            </a:r>
          </a:p>
          <a:p>
            <a:endParaRPr lang="en-US" dirty="0"/>
          </a:p>
          <a:p>
            <a:r>
              <a:rPr lang="en-US" dirty="0"/>
              <a:t>The fourth channel is the bank capital channel, which links monetary policy to Basel-style capital regulation. Banks are required to keep a minimum ratio of equity capital to risk-weighted assets. When policy tightens, net interest margins can be squeezed and the value of fixed-rate assets can fall, so retained earnings and capital buffers erode. If a bank gets close to its capital requirement, it has two options: raise new equity, which is costly and often unattractive, or shrink risk-weighted assets. In practice, that means cutting back on new lending. In this view, the effect of rate hikes on credit supply runs partly through bank profitability and the need to rebuild capital in order to stay comfortably above regulatory thresholds. </a:t>
            </a:r>
          </a:p>
          <a:p>
            <a:endParaRPr lang="en-US" dirty="0"/>
          </a:p>
          <a:p>
            <a:r>
              <a:rPr lang="en-US" dirty="0"/>
              <a:t>The last channel is the deposit channel, formulated by Drechsler and coauthors. The idea is that when the central bank raises rates, banks have local market power over retail deposits and only pass through part of the hike into deposit rates. The spread between deposit rates and outside options, like Treasury bills and money market funds, widens. As that happens, households and firms reallocate into those higher-yield, liquid alternatives, so deposits flow out of the banking system. Because core deposits are the main funding source for many banks, and may not be easy or cheap to replace with large CDs, time deposits, or wholesale funding, banks may respond by shrinking their balance sheets and cutting back on lending. I will come back to this deposit channel on the next slide.</a:t>
            </a:r>
          </a:p>
        </p:txBody>
      </p:sp>
      <p:sp>
        <p:nvSpPr>
          <p:cNvPr id="4" name="Slide Number Placeholder 3"/>
          <p:cNvSpPr>
            <a:spLocks noGrp="1"/>
          </p:cNvSpPr>
          <p:nvPr>
            <p:ph type="sldNum" sz="quarter" idx="5"/>
          </p:nvPr>
        </p:nvSpPr>
        <p:spPr/>
        <p:txBody>
          <a:bodyPr/>
          <a:lstStyle/>
          <a:p>
            <a:fld id="{F8629CC6-5E55-4726-98C3-B3E14BE45008}" type="slidenum">
              <a:rPr lang="en-US" smtClean="0"/>
              <a:t>4</a:t>
            </a:fld>
            <a:endParaRPr lang="en-US"/>
          </a:p>
        </p:txBody>
      </p:sp>
    </p:spTree>
    <p:extLst>
      <p:ext uri="{BB962C8B-B14F-4D97-AF65-F5344CB8AC3E}">
        <p14:creationId xmlns:p14="http://schemas.microsoft.com/office/powerpoint/2010/main" val="3247451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 deposit channel, Drechsler, </a:t>
            </a:r>
            <a:r>
              <a:rPr lang="en-US" dirty="0" err="1"/>
              <a:t>Savov</a:t>
            </a:r>
            <a:r>
              <a:rPr lang="en-US" dirty="0"/>
              <a:t> and Schnabl (2016), hereafter DSS, use a cross-sectional strategy rather than macro time-series. They measure local deposit-market concentration with the county-level Herfindahl–Hirschman Index (HHI) from branch deposits. The idea is that in competitive counties (low HHI) deposit taking is closer to perfect competition, so banks must pass through more of a policy-rate hike into deposit rates. In concentrated counties (high HHI) banks have more market power, pass through less, let deposit spreads widen, and therefore should lose more deposits when rates rise. To separate this from loan-demand effects, they include </a:t>
            </a:r>
            <a:r>
              <a:rPr lang="en-US" dirty="0" err="1"/>
              <a:t>bank×time</a:t>
            </a:r>
            <a:r>
              <a:rPr lang="en-US" dirty="0"/>
              <a:t> fixed effects and effectively compare different branches of the same bank operating in counties with different HHI.</a:t>
            </a:r>
          </a:p>
          <a:p>
            <a:endParaRPr lang="en-US" dirty="0"/>
          </a:p>
          <a:p>
            <a:r>
              <a:rPr lang="en-US" dirty="0"/>
              <a:t>Empirically, they find that when the funds rate increases, branches in high-HHI counties raise deposit rates less and experience larger declines in core deposit growth. At the bank level, banks whose deposit footprint is more concentrated (higher deposit-weighted HHI) reduce loan growth more in tightening episodes. DSS interpret these patterns as evidence for a “deposit quantity channel”: rate hikes with imperfect pass-through lead to core deposit outflows, which then force banks to shrink balance sheets and cut lending. Using a calibrated model, DSS argue that banks will reduce credit supply at a slightly smaller scale of the aggregate deposit outflow. </a:t>
            </a:r>
          </a:p>
        </p:txBody>
      </p:sp>
      <p:sp>
        <p:nvSpPr>
          <p:cNvPr id="4" name="Slide Number Placeholder 3"/>
          <p:cNvSpPr>
            <a:spLocks noGrp="1"/>
          </p:cNvSpPr>
          <p:nvPr>
            <p:ph type="sldNum" sz="quarter" idx="5"/>
          </p:nvPr>
        </p:nvSpPr>
        <p:spPr/>
        <p:txBody>
          <a:bodyPr/>
          <a:lstStyle/>
          <a:p>
            <a:fld id="{F8629CC6-5E55-4726-98C3-B3E14BE45008}" type="slidenum">
              <a:rPr lang="en-US" smtClean="0"/>
              <a:t>5</a:t>
            </a:fld>
            <a:endParaRPr lang="en-US"/>
          </a:p>
        </p:txBody>
      </p:sp>
    </p:spTree>
    <p:extLst>
      <p:ext uri="{BB962C8B-B14F-4D97-AF65-F5344CB8AC3E}">
        <p14:creationId xmlns:p14="http://schemas.microsoft.com/office/powerpoint/2010/main" val="4149707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Begenau</a:t>
            </a:r>
            <a:r>
              <a:rPr lang="en-US" dirty="0"/>
              <a:t> and Stafford (2023) is a powerful critique of DSS and substantially weakens their specific deposit channel. First, they show that U.S. banks, especially large networked banks, mostly use </a:t>
            </a:r>
            <a:r>
              <a:rPr lang="en-US" b="1" dirty="0"/>
              <a:t>uniform deposit rates</a:t>
            </a:r>
            <a:r>
              <a:rPr lang="en-US" dirty="0"/>
              <a:t> across branches. Rates are set centrally and barely vary by county, so banks are not actually adjusting branch-level rates to local competition. A striking example is Bank of America in 2007, which had more than 5,700 branches across almost 700 counties but used only two or three distinct rates for a given product. This means the core DSS assumption – that county HHI captures local pricing power used in branch-level rate setting – is not realistic for most large banks.</a:t>
            </a:r>
          </a:p>
          <a:p>
            <a:endParaRPr lang="en-US" dirty="0"/>
          </a:p>
          <a:p>
            <a:r>
              <a:rPr lang="en-US" dirty="0"/>
              <a:t>Second, they revisit the DSS branch regressions and note that DSS </a:t>
            </a:r>
            <a:r>
              <a:rPr lang="en-US" b="1" dirty="0"/>
              <a:t>exclude all “follower” branches</a:t>
            </a:r>
            <a:r>
              <a:rPr lang="en-US" dirty="0"/>
              <a:t> whose rates are set elsewhere. These follower branches make up about 90 percent of all branches. When </a:t>
            </a:r>
            <a:r>
              <a:rPr lang="en-US" dirty="0" err="1"/>
              <a:t>Begenau</a:t>
            </a:r>
            <a:r>
              <a:rPr lang="en-US" dirty="0"/>
              <a:t> and Stafford put these branches back into the sample and repeat the within–bank–over–time regressions, the key relationship that DSS emphasize – that branches in more concentrated counties raise deposit rates less when the funds rate goes up – essentially disappears. At the same time, the pattern for </a:t>
            </a:r>
            <a:r>
              <a:rPr lang="en-US" b="1" dirty="0"/>
              <a:t>deposit flows</a:t>
            </a:r>
            <a:r>
              <a:rPr lang="en-US" dirty="0"/>
              <a:t> survives: during tightening, branches in more concentrated counties still tend to lose deposits more quickly, even when their local rates are the same as in competitive counties. This strongly suggests that the HHI term in the flow regressions is picking up </a:t>
            </a:r>
            <a:r>
              <a:rPr lang="en-US" b="1" dirty="0"/>
              <a:t>local depositor behavior and local demand</a:t>
            </a:r>
            <a:r>
              <a:rPr lang="en-US" dirty="0"/>
              <a:t>, not banks’ deliberate use of market power in pricing.</a:t>
            </a:r>
          </a:p>
          <a:p>
            <a:endParaRPr lang="en-US" dirty="0"/>
          </a:p>
          <a:p>
            <a:r>
              <a:rPr lang="en-US" dirty="0"/>
              <a:t>Finally, they point to an </a:t>
            </a:r>
            <a:r>
              <a:rPr lang="en-US" b="1" dirty="0"/>
              <a:t>aggregation problem</a:t>
            </a:r>
            <a:r>
              <a:rPr lang="en-US" dirty="0"/>
              <a:t>. The largest banks, roughly the top decile by size, hold around 90 percent of U.S. banking assets and deposits. For this group, the HHI-based patterns in spreads, deposit flows, and loan growth are weak or even go in the wrong direction, and these banks actively replace lost core deposits with large time deposits and wholesale funding. So even if a DSS-style deposit quantity channel exists for some smaller, local banks, </a:t>
            </a:r>
            <a:r>
              <a:rPr lang="en-US" dirty="0" err="1"/>
              <a:t>Begenau</a:t>
            </a:r>
            <a:r>
              <a:rPr lang="en-US" dirty="0"/>
              <a:t> and Stafford argue that it does not scale up to a major transmission channel at the system level.</a:t>
            </a:r>
          </a:p>
        </p:txBody>
      </p:sp>
      <p:sp>
        <p:nvSpPr>
          <p:cNvPr id="4" name="Slide Number Placeholder 3"/>
          <p:cNvSpPr>
            <a:spLocks noGrp="1"/>
          </p:cNvSpPr>
          <p:nvPr>
            <p:ph type="sldNum" sz="quarter" idx="5"/>
          </p:nvPr>
        </p:nvSpPr>
        <p:spPr/>
        <p:txBody>
          <a:bodyPr/>
          <a:lstStyle/>
          <a:p>
            <a:fld id="{F8629CC6-5E55-4726-98C3-B3E14BE45008}" type="slidenum">
              <a:rPr lang="en-US" smtClean="0"/>
              <a:t>6</a:t>
            </a:fld>
            <a:endParaRPr lang="en-US"/>
          </a:p>
        </p:txBody>
      </p:sp>
    </p:spTree>
    <p:extLst>
      <p:ext uri="{BB962C8B-B14F-4D97-AF65-F5344CB8AC3E}">
        <p14:creationId xmlns:p14="http://schemas.microsoft.com/office/powerpoint/2010/main" val="2984173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lay out my theoretical concerns about how DSS formulate the deposit channel.</a:t>
            </a:r>
          </a:p>
          <a:p>
            <a:endParaRPr lang="en-US" dirty="0"/>
          </a:p>
          <a:p>
            <a:r>
              <a:rPr lang="en-US" dirty="0"/>
              <a:t>First, DSS start from the premise that retail deposits are a special and valuable funding source for most banks. If that is true, then for a bank that is especially prone to deposit outflows, the natural response to a rate hike is to </a:t>
            </a:r>
            <a:r>
              <a:rPr lang="en-US" b="1" dirty="0"/>
              <a:t>raise</a:t>
            </a:r>
            <a:r>
              <a:rPr lang="en-US" dirty="0"/>
              <a:t> deposit rates more aggressively to defend its deposit base. In other words, the banks with “flightier” deposits should </a:t>
            </a:r>
            <a:r>
              <a:rPr lang="en-US" i="1" dirty="0"/>
              <a:t>pass through more</a:t>
            </a:r>
            <a:r>
              <a:rPr lang="en-US" dirty="0"/>
              <a:t> of a policy-rate increase into deposit rates, not simply accept large outflows. It is not internally consistent to assume deposits are crucial but also assume banks let core deposits run off without using the price margin. That logic already pushes us toward thinking of the deposit channel as working primarily through </a:t>
            </a:r>
            <a:r>
              <a:rPr lang="en-US" b="1" dirty="0"/>
              <a:t>funding costs</a:t>
            </a:r>
            <a:r>
              <a:rPr lang="en-US" dirty="0"/>
              <a:t> (how much banks have to pay on deposits), rather than through the sheer quantity of deposits left on the balance sheet.</a:t>
            </a:r>
          </a:p>
          <a:p>
            <a:endParaRPr lang="en-US" dirty="0"/>
          </a:p>
          <a:p>
            <a:r>
              <a:rPr lang="en-US" dirty="0"/>
              <a:t>Second, from a post-Keynesian endogenous-money perspective, I think deposits are </a:t>
            </a:r>
            <a:r>
              <a:rPr lang="en-US" b="1" dirty="0"/>
              <a:t>much more substitutable</a:t>
            </a:r>
            <a:r>
              <a:rPr lang="en-US" dirty="0"/>
              <a:t> than the DSS story implies. At the macro level, when households move money out of checking and savings accounts into T-bills or money market funds, the resulting portfolio rebalancing does not map one-for-one or anything close into a shrinkage of bank loans. Some of those funds come back as brokered CDs or large time deposits, some are effectively recycled as banks sell securities such as Treasuries, and only the residual funding gap has to be closed by cutting loan supply. In that environment, you would expect the </a:t>
            </a:r>
            <a:r>
              <a:rPr lang="en-US" b="1" dirty="0"/>
              <a:t>aggregate loan response</a:t>
            </a:r>
            <a:r>
              <a:rPr lang="en-US" dirty="0"/>
              <a:t> to be substantially smaller than the aggregate deposit outflow that DSS emphasize, and way smaller than in their calibration.</a:t>
            </a:r>
          </a:p>
          <a:p>
            <a:endParaRPr lang="en-US" dirty="0"/>
          </a:p>
          <a:p>
            <a:r>
              <a:rPr lang="en-US" dirty="0"/>
              <a:t>That said, even if the aggregate quantity effect is weak, the </a:t>
            </a:r>
            <a:r>
              <a:rPr lang="en-US" b="1" dirty="0"/>
              <a:t>distribution</a:t>
            </a:r>
            <a:r>
              <a:rPr lang="en-US" dirty="0"/>
              <a:t> of funding stress across banks can still matter if some borrowers depend on relationship lenders and cannot easily switch banks. In that case, where the deposit outflows land, and which banks face higher replacement costs, can still create a meaningful deposit channel. My view is that the key cross-sectional difference is not simply “who loses more core deposits,” but </a:t>
            </a:r>
            <a:r>
              <a:rPr lang="en-US" b="1" dirty="0"/>
              <a:t>at what price and scale each bank can replace those deposits</a:t>
            </a:r>
            <a:r>
              <a:rPr lang="en-US" dirty="0"/>
              <a:t> with alternative liabilities. Banks that lose more cheap core funding and have to rely more heavily on brokered CDs or large time deposits will face higher funding costs and thus a stronger incentive to slow lending. In the rest of the talk I will focus on how this shows up in the cross-section of deposit adjustments at the bank level, and leave a full theory of cross-sectional borrowing costs for future work.</a:t>
            </a:r>
          </a:p>
        </p:txBody>
      </p:sp>
      <p:sp>
        <p:nvSpPr>
          <p:cNvPr id="4" name="Slide Number Placeholder 3"/>
          <p:cNvSpPr>
            <a:spLocks noGrp="1"/>
          </p:cNvSpPr>
          <p:nvPr>
            <p:ph type="sldNum" sz="quarter" idx="5"/>
          </p:nvPr>
        </p:nvSpPr>
        <p:spPr/>
        <p:txBody>
          <a:bodyPr/>
          <a:lstStyle/>
          <a:p>
            <a:fld id="{F8629CC6-5E55-4726-98C3-B3E14BE45008}" type="slidenum">
              <a:rPr lang="en-US" smtClean="0"/>
              <a:t>7</a:t>
            </a:fld>
            <a:endParaRPr lang="en-US"/>
          </a:p>
        </p:txBody>
      </p:sp>
    </p:spTree>
    <p:extLst>
      <p:ext uri="{BB962C8B-B14F-4D97-AF65-F5344CB8AC3E}">
        <p14:creationId xmlns:p14="http://schemas.microsoft.com/office/powerpoint/2010/main" val="2726559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DSS and the critiques, I want to lay out the version of the deposit channel that I will take to the data.</a:t>
            </a:r>
          </a:p>
          <a:p>
            <a:endParaRPr lang="en-US" dirty="0"/>
          </a:p>
          <a:p>
            <a:r>
              <a:rPr lang="en-US" dirty="0"/>
              <a:t>First, I move the analysis entirely to the </a:t>
            </a:r>
            <a:r>
              <a:rPr lang="en-US" b="1" dirty="0"/>
              <a:t>bank level to deal with the uniform pricing critique</a:t>
            </a:r>
            <a:r>
              <a:rPr lang="en-US" dirty="0"/>
              <a:t>. When the policy rate rises, banks differ in how much they raise their effective deposit rates, depending on who their depositors are, how branch-intensive they are, and, to some extent, their local market structure. This heterogeneity in pass-through generates </a:t>
            </a:r>
            <a:r>
              <a:rPr lang="en-US" b="1" dirty="0"/>
              <a:t>idiosyncratic funding-cost shocks</a:t>
            </a:r>
            <a:r>
              <a:rPr lang="en-US" dirty="0"/>
              <a:t> to banks’ balance sheets, even though the policy shock itself is common.</a:t>
            </a:r>
          </a:p>
          <a:p>
            <a:endParaRPr lang="en-US" dirty="0"/>
          </a:p>
          <a:p>
            <a:r>
              <a:rPr lang="en-US" dirty="0"/>
              <a:t>Second, I assume that higher funding costs make lending less attractive at the margin. Banks that experience a larger increase in their deposit funding cost will be more inclined to slow loan growth or tighten lending standards. This matters for the real economy when borrowers cannot </a:t>
            </a:r>
            <a:r>
              <a:rPr lang="en-US" dirty="0" err="1"/>
              <a:t>costlessly</a:t>
            </a:r>
            <a:r>
              <a:rPr lang="en-US" dirty="0"/>
              <a:t> switch to another bank. If some firms or households depend on relationship lenders, and those particular lenders face a larger funding-cost shock, then credit to those borrowers contracts and their spending falls.</a:t>
            </a:r>
          </a:p>
          <a:p>
            <a:endParaRPr lang="en-US" dirty="0"/>
          </a:p>
          <a:p>
            <a:r>
              <a:rPr lang="en-US" dirty="0"/>
              <a:t>This is the reframed deposit channel I have in mind: </a:t>
            </a:r>
            <a:r>
              <a:rPr lang="en-US" b="1" dirty="0"/>
              <a:t>heterogeneous bank-level funding-cost shocks, combined with imperfect substitutability on the borrower side</a:t>
            </a:r>
            <a:r>
              <a:rPr lang="en-US" dirty="0"/>
              <a:t>. In the rest of the presentation, I will treat this as a set of hypotheses and test whether the data from the recent hiking cycle are consistent with this mechanism.</a:t>
            </a:r>
          </a:p>
        </p:txBody>
      </p:sp>
      <p:sp>
        <p:nvSpPr>
          <p:cNvPr id="4" name="Slide Number Placeholder 3"/>
          <p:cNvSpPr>
            <a:spLocks noGrp="1"/>
          </p:cNvSpPr>
          <p:nvPr>
            <p:ph type="sldNum" sz="quarter" idx="5"/>
          </p:nvPr>
        </p:nvSpPr>
        <p:spPr/>
        <p:txBody>
          <a:bodyPr/>
          <a:lstStyle/>
          <a:p>
            <a:fld id="{F8629CC6-5E55-4726-98C3-B3E14BE45008}" type="slidenum">
              <a:rPr lang="en-US" smtClean="0"/>
              <a:t>8</a:t>
            </a:fld>
            <a:endParaRPr lang="en-US"/>
          </a:p>
        </p:txBody>
      </p:sp>
    </p:spTree>
    <p:extLst>
      <p:ext uri="{BB962C8B-B14F-4D97-AF65-F5344CB8AC3E}">
        <p14:creationId xmlns:p14="http://schemas.microsoft.com/office/powerpoint/2010/main" val="1797830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empirical strategy has two steps. I take the recent hiking cycle as a common policy shock. Banks differ in their pre-existing characteristics – who their depositors are, how branch-intensive they are, and where they operate – and these differences make some banks much more exposed to that shock than others.</a:t>
            </a:r>
          </a:p>
          <a:p>
            <a:endParaRPr lang="en-US" dirty="0"/>
          </a:p>
          <a:p>
            <a:r>
              <a:rPr lang="en-US" dirty="0"/>
              <a:t>In the first step I ask: do those ex-ante characteristics actually predict how much a bank’s deposit rates and deposit quantities move during the cycle? In the second step, I treat those predicted changes in funding conditions as policy-induced shocks and see how banks’ loan growth responds. That gives a reduced-form estimate of the credit-supply effect of a deposit funding shock.</a:t>
            </a:r>
          </a:p>
        </p:txBody>
      </p:sp>
      <p:sp>
        <p:nvSpPr>
          <p:cNvPr id="4" name="Slide Number Placeholder 3"/>
          <p:cNvSpPr>
            <a:spLocks noGrp="1"/>
          </p:cNvSpPr>
          <p:nvPr>
            <p:ph type="sldNum" sz="quarter" idx="5"/>
          </p:nvPr>
        </p:nvSpPr>
        <p:spPr/>
        <p:txBody>
          <a:bodyPr/>
          <a:lstStyle/>
          <a:p>
            <a:fld id="{F8629CC6-5E55-4726-98C3-B3E14BE45008}" type="slidenum">
              <a:rPr lang="en-US" smtClean="0"/>
              <a:t>9</a:t>
            </a:fld>
            <a:endParaRPr lang="en-US"/>
          </a:p>
        </p:txBody>
      </p:sp>
    </p:spTree>
    <p:extLst>
      <p:ext uri="{BB962C8B-B14F-4D97-AF65-F5344CB8AC3E}">
        <p14:creationId xmlns:p14="http://schemas.microsoft.com/office/powerpoint/2010/main" val="1577164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empirical work I use a quarterly panel of U.S. commercial banks from 2021Q4 to 2023Q3.</a:t>
            </a:r>
          </a:p>
          <a:p>
            <a:endParaRPr lang="en-US" dirty="0"/>
          </a:p>
          <a:p>
            <a:r>
              <a:rPr lang="en-US" dirty="0"/>
              <a:t>That gives me roughly 3,800 banks that are present at the start of 2022, and over 95% of them are small and community banks with assets under 10 billion USD, where deposit funding is especially important.</a:t>
            </a:r>
          </a:p>
          <a:p>
            <a:endParaRPr lang="en-US" dirty="0"/>
          </a:p>
          <a:p>
            <a:r>
              <a:rPr lang="en-US" dirty="0"/>
              <a:t>The data come from three main sources: Call Reports for balance sheets and interest expenses, FDIC Summary of Deposits for the geographic distribution of branches and deposits, and county-level demographic and financial data from Census, IRS, FCC, and HMDA.</a:t>
            </a:r>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10</a:t>
            </a:fld>
            <a:endParaRPr lang="en-US"/>
          </a:p>
        </p:txBody>
      </p:sp>
    </p:spTree>
    <p:extLst>
      <p:ext uri="{BB962C8B-B14F-4D97-AF65-F5344CB8AC3E}">
        <p14:creationId xmlns:p14="http://schemas.microsoft.com/office/powerpoint/2010/main" val="3697966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t>
            </a:r>
            <a:r>
              <a:rPr lang="en-US" dirty="0" err="1"/>
              <a:t>summarise</a:t>
            </a:r>
            <a:r>
              <a:rPr lang="en-US" dirty="0"/>
              <a:t> each bank’s </a:t>
            </a:r>
            <a:r>
              <a:rPr lang="en-US" dirty="0" err="1"/>
              <a:t>behaviour</a:t>
            </a:r>
            <a:r>
              <a:rPr lang="en-US" dirty="0"/>
              <a:t> during the hiking cycle using three sets of outcomes.</a:t>
            </a:r>
          </a:p>
          <a:p>
            <a:endParaRPr lang="en-US" dirty="0"/>
          </a:p>
          <a:p>
            <a:r>
              <a:rPr lang="en-US" dirty="0"/>
              <a:t>First, an effective deposit rate, defined as total interest expense on domestic deposits divided by the average stock of domestic deposits. This tells us the average price the bank is paying for its deposit </a:t>
            </a:r>
            <a:r>
              <a:rPr lang="en-US" dirty="0" err="1"/>
              <a:t>funding.Second</a:t>
            </a:r>
            <a:r>
              <a:rPr lang="en-US" dirty="0"/>
              <a:t>, deposit quantities, measured as quarter-on-quarter growth rates of total deposits, interest-bearing deposits, and a core deposit measure.</a:t>
            </a:r>
          </a:p>
          <a:p>
            <a:endParaRPr lang="en-US" dirty="0"/>
          </a:p>
          <a:p>
            <a:r>
              <a:rPr lang="en-US" dirty="0"/>
              <a:t>Third, loan outcomes, mainly the growth rate of loans not held for sale, and in robustness I also look at growth in single-family mortgages, multifamily mortgages, and C&amp;I loans separately.</a:t>
            </a:r>
          </a:p>
          <a:p>
            <a:endParaRPr lang="en-US" dirty="0"/>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11</a:t>
            </a:fld>
            <a:endParaRPr lang="en-US"/>
          </a:p>
        </p:txBody>
      </p:sp>
    </p:spTree>
    <p:extLst>
      <p:ext uri="{BB962C8B-B14F-4D97-AF65-F5344CB8AC3E}">
        <p14:creationId xmlns:p14="http://schemas.microsoft.com/office/powerpoint/2010/main" val="769128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capture how exposed each bank was before the tightening started, I construct three indices using 2019–2021 data.</a:t>
            </a:r>
          </a:p>
          <a:p>
            <a:endParaRPr lang="en-US" dirty="0"/>
          </a:p>
          <a:p>
            <a:r>
              <a:rPr lang="en-US" dirty="0"/>
              <a:t>The first is a depositor sophistication index, built from a Principal Component Analysis using county-level variables like income, age, education, internet access, and financial activity, aggregated to the bank level using deposit weights. This is meant to proxy how rate-sensitive and information-rich the depositor base is.</a:t>
            </a:r>
          </a:p>
          <a:p>
            <a:endParaRPr lang="en-US" dirty="0"/>
          </a:p>
          <a:p>
            <a:r>
              <a:rPr lang="en-US" dirty="0"/>
              <a:t>The second is branch intensity, defined as the number of branches per billion dollars of domestic deposits. This captures how “branch-heavy” and relationship-oriented the bank’s funding model is.</a:t>
            </a:r>
          </a:p>
          <a:p>
            <a:endParaRPr lang="en-US" dirty="0"/>
          </a:p>
          <a:p>
            <a:r>
              <a:rPr lang="en-US" dirty="0"/>
              <a:t>The third is an HHI exposure, which is the deposit-weighted average of county-level deposit concentration for each bank. This keeps a link to the traditional market-power view in DSS, but now at the bank level.</a:t>
            </a:r>
          </a:p>
        </p:txBody>
      </p:sp>
      <p:sp>
        <p:nvSpPr>
          <p:cNvPr id="4" name="Slide Number Placeholder 3"/>
          <p:cNvSpPr>
            <a:spLocks noGrp="1"/>
          </p:cNvSpPr>
          <p:nvPr>
            <p:ph type="sldNum" sz="quarter" idx="5"/>
          </p:nvPr>
        </p:nvSpPr>
        <p:spPr/>
        <p:txBody>
          <a:bodyPr/>
          <a:lstStyle/>
          <a:p>
            <a:fld id="{F8629CC6-5E55-4726-98C3-B3E14BE45008}" type="slidenum">
              <a:rPr lang="en-US" smtClean="0"/>
              <a:t>12</a:t>
            </a:fld>
            <a:endParaRPr lang="en-US"/>
          </a:p>
        </p:txBody>
      </p:sp>
    </p:spTree>
    <p:extLst>
      <p:ext uri="{BB962C8B-B14F-4D97-AF65-F5344CB8AC3E}">
        <p14:creationId xmlns:p14="http://schemas.microsoft.com/office/powerpoint/2010/main" val="136982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policy shock in the background is the cumulative change in the federal funds rate since 2021 Q4. By the end of the sample this adds up to a bit more than five percentage points.</a:t>
            </a:r>
          </a:p>
          <a:p>
            <a:endParaRPr lang="en-US" dirty="0"/>
          </a:p>
          <a:p>
            <a:r>
              <a:rPr lang="en-US" dirty="0"/>
              <a:t>Before the hiking cycle starts, I measure three exposure indices for each bank using 2019–2021 data. The first is the </a:t>
            </a:r>
            <a:r>
              <a:rPr lang="en-US" b="1" dirty="0"/>
              <a:t>depositor sophistication index</a:t>
            </a:r>
            <a:r>
              <a:rPr lang="en-US" dirty="0"/>
              <a:t>. I build this with a principal component analysis on county variables like education, age, internet access, reported interest and dividend income, and a refinancing measure. The refinancing variable is the ratio of mortgage refinancing to new mortgage originations in HMDA, so it directly captures how actively households respond to rate changes. I then take a deposit-weighted average of this PCA index across the counties where the bank operates. This is one of the novelties of the paper – it uses local refinancing </a:t>
            </a:r>
            <a:r>
              <a:rPr lang="en-US" dirty="0" err="1"/>
              <a:t>behaviour</a:t>
            </a:r>
            <a:r>
              <a:rPr lang="en-US" dirty="0"/>
              <a:t> as part of a continuous sophistication measure.</a:t>
            </a:r>
          </a:p>
          <a:p>
            <a:endParaRPr lang="en-US" dirty="0"/>
          </a:p>
          <a:p>
            <a:r>
              <a:rPr lang="en-US" dirty="0"/>
              <a:t>The second index is </a:t>
            </a:r>
            <a:r>
              <a:rPr lang="en-US" b="1" dirty="0"/>
              <a:t>branch intensity</a:t>
            </a:r>
            <a:r>
              <a:rPr lang="en-US" dirty="0"/>
              <a:t>, defined as the number of branches per billion dollars of deposits. In the regressions I use the </a:t>
            </a:r>
            <a:r>
              <a:rPr lang="en-US" b="1" dirty="0"/>
              <a:t>log</a:t>
            </a:r>
            <a:r>
              <a:rPr lang="en-US" dirty="0"/>
              <a:t> of this ratio, so it is really a log branch density measure that captures how branch-heavy and relationship-oriented the funding model is.</a:t>
            </a:r>
          </a:p>
          <a:p>
            <a:endParaRPr lang="en-US" dirty="0"/>
          </a:p>
          <a:p>
            <a:r>
              <a:rPr lang="en-US" dirty="0"/>
              <a:t>The third is an </a:t>
            </a:r>
            <a:r>
              <a:rPr lang="en-US" b="1" dirty="0"/>
              <a:t>HHI exposure</a:t>
            </a:r>
            <a:r>
              <a:rPr lang="en-US" dirty="0"/>
              <a:t>, which is the deposit-weighted average of county-level deposit concentration for each bank. This keeps a connection to the traditional competition story, but now at the bank level.</a:t>
            </a:r>
          </a:p>
          <a:p>
            <a:endParaRPr lang="en-US" dirty="0"/>
          </a:p>
          <a:p>
            <a:r>
              <a:rPr lang="en-US" dirty="0"/>
              <a:t>I then interact each of these three pre-2021 indices with the cumulative policy change in each quarter. That gives me three predicted funding shocks per bank per quarter – one based on sophistication, one based on branch intensity, and one based on HHI. These predicted shocks tell us how much a given bank </a:t>
            </a:r>
            <a:r>
              <a:rPr lang="en-US" i="1" dirty="0"/>
              <a:t>should</a:t>
            </a:r>
            <a:r>
              <a:rPr lang="en-US" dirty="0"/>
              <a:t> be exposed to the hiking cycle, given its pre-existing depositor base and funding model.</a:t>
            </a:r>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13</a:t>
            </a:fld>
            <a:endParaRPr lang="en-US"/>
          </a:p>
        </p:txBody>
      </p:sp>
    </p:spTree>
    <p:extLst>
      <p:ext uri="{BB962C8B-B14F-4D97-AF65-F5344CB8AC3E}">
        <p14:creationId xmlns:p14="http://schemas.microsoft.com/office/powerpoint/2010/main" val="2202153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implement this in two steps using a simple two-stage least squares framework, but I will keep the discussion intuitive.</a:t>
            </a:r>
          </a:p>
          <a:p>
            <a:endParaRPr lang="en-US" dirty="0"/>
          </a:p>
          <a:p>
            <a:r>
              <a:rPr lang="en-US" b="1" dirty="0"/>
              <a:t>First stage:</a:t>
            </a:r>
            <a:r>
              <a:rPr lang="en-US" dirty="0"/>
              <a:t> I ask whether these predicted funding shocks actually explain what happens to deposit conditions. Concretely, I regress cumulative effective deposit rates – and separately deposit growth – on the three interaction terms I just described. I include bank fixed effects and quarter fixed effects so I am looking at how a given bank responds over time relative to its own baseline, and I also add region-by-quarter fixed effects to absorb broad regional shocks.</a:t>
            </a:r>
          </a:p>
          <a:p>
            <a:endParaRPr lang="en-US" dirty="0"/>
          </a:p>
          <a:p>
            <a:r>
              <a:rPr lang="en-US" dirty="0"/>
              <a:t>In addition, I include two sets of controls that are important for distributional reasons. I construct a deposit-weighted metro dummy and a deposit-weighted log median income for each bank, and interact both of them with the cumulative policy change. These controls make sure I am not simply picking up that high-sophistication banks tend to be in rich metro areas; they soak up the part of the exposure that is purely about being urban or high income.</a:t>
            </a:r>
          </a:p>
          <a:p>
            <a:endParaRPr lang="en-US" dirty="0"/>
          </a:p>
          <a:p>
            <a:r>
              <a:rPr lang="en-US" b="1" dirty="0"/>
              <a:t>Second stage:</a:t>
            </a:r>
            <a:r>
              <a:rPr lang="en-US" dirty="0"/>
              <a:t> In the second step, I take the part of deposit conditions that is explained by these instruments – that is, the policy-induced component of funding costs or deposit growth – and relate it to loan growth. I run loan-growth regressions on the instrumented cumulative deposit rate, and in alternative specifications on instrumented deposit growth, using the same fixed effects and the same metro and income controls. This gives a reduced-form estimate of how a bank-level deposit funding shock generated by the tightening cycle translates into changes in credit supply.</a:t>
            </a:r>
          </a:p>
          <a:p>
            <a:endParaRPr lang="en-US" dirty="0"/>
          </a:p>
          <a:p>
            <a:r>
              <a:rPr lang="en-US" dirty="0"/>
              <a:t>In the robustness section, I estimate multiple specifications using both flow and cumulative changes in deposit rates and quantities, several alternative definitions of deposit rates and deposit measures, and versions with and without the two additional controls; the main results remain stable across all of these specifications.</a:t>
            </a:r>
          </a:p>
        </p:txBody>
      </p:sp>
      <p:sp>
        <p:nvSpPr>
          <p:cNvPr id="4" name="Slide Number Placeholder 3"/>
          <p:cNvSpPr>
            <a:spLocks noGrp="1"/>
          </p:cNvSpPr>
          <p:nvPr>
            <p:ph type="sldNum" sz="quarter" idx="5"/>
          </p:nvPr>
        </p:nvSpPr>
        <p:spPr/>
        <p:txBody>
          <a:bodyPr/>
          <a:lstStyle/>
          <a:p>
            <a:fld id="{F8629CC6-5E55-4726-98C3-B3E14BE45008}" type="slidenum">
              <a:rPr lang="en-US" smtClean="0"/>
              <a:t>14</a:t>
            </a:fld>
            <a:endParaRPr lang="en-US"/>
          </a:p>
        </p:txBody>
      </p:sp>
    </p:spTree>
    <p:extLst>
      <p:ext uri="{BB962C8B-B14F-4D97-AF65-F5344CB8AC3E}">
        <p14:creationId xmlns:p14="http://schemas.microsoft.com/office/powerpoint/2010/main" val="813181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the regression results, let me first give you a picture from the raw data.</a:t>
            </a:r>
          </a:p>
          <a:p>
            <a:endParaRPr lang="en-US" dirty="0"/>
          </a:p>
          <a:p>
            <a:r>
              <a:rPr lang="en-US" dirty="0"/>
              <a:t>The dashed line is the upper bound of the federal funds target, and the shaded area marks my sample period, 2022Q1–2023Q3. Over this period the Fed raised the policy rate by about 5.25 percentage points. The solid lines show effective deposit rates for all deposits and for interest-bearing deposits. You can see that banks increased the interest rate on interest-bearing deposits by </a:t>
            </a:r>
            <a:r>
              <a:rPr lang="en-US" b="1" dirty="0"/>
              <a:t>less than 3 percentage points</a:t>
            </a:r>
            <a:r>
              <a:rPr lang="en-US" dirty="0"/>
              <a:t>, and on total deposits by </a:t>
            </a:r>
            <a:r>
              <a:rPr lang="en-US" b="1" dirty="0"/>
              <a:t>around 2 percentage points</a:t>
            </a:r>
            <a:r>
              <a:rPr lang="en-US" dirty="0"/>
              <a:t>. So deposit rates moved by only about half as much as the policy rate.</a:t>
            </a:r>
          </a:p>
          <a:p>
            <a:endParaRPr lang="en-US" dirty="0"/>
          </a:p>
          <a:p>
            <a:r>
              <a:rPr lang="en-US" dirty="0"/>
              <a:t>The right panel takes a simple average across banks instead of an asset-weighted average, and the pass-through looks even smaller. In other words, for a typical bank, deposit rates stayed far below money-market and Treasury yields. This widening spread means that the opportunity cost of holding low-yield deposits kept rising, especially for financially sophisticated customers, and it created strong incentives to move funds into alternative assets.</a:t>
            </a:r>
          </a:p>
        </p:txBody>
      </p:sp>
      <p:sp>
        <p:nvSpPr>
          <p:cNvPr id="4" name="Slide Number Placeholder 3"/>
          <p:cNvSpPr>
            <a:spLocks noGrp="1"/>
          </p:cNvSpPr>
          <p:nvPr>
            <p:ph type="sldNum" sz="quarter" idx="5"/>
          </p:nvPr>
        </p:nvSpPr>
        <p:spPr/>
        <p:txBody>
          <a:bodyPr/>
          <a:lstStyle/>
          <a:p>
            <a:fld id="{F8629CC6-5E55-4726-98C3-B3E14BE45008}" type="slidenum">
              <a:rPr lang="en-US" smtClean="0"/>
              <a:t>15</a:t>
            </a:fld>
            <a:endParaRPr lang="en-US"/>
          </a:p>
        </p:txBody>
      </p:sp>
    </p:spTree>
    <p:extLst>
      <p:ext uri="{BB962C8B-B14F-4D97-AF65-F5344CB8AC3E}">
        <p14:creationId xmlns:p14="http://schemas.microsoft.com/office/powerpoint/2010/main" val="3338950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explain the key first-stage results.</a:t>
            </a:r>
          </a:p>
          <a:p>
            <a:endParaRPr lang="en-US" dirty="0"/>
          </a:p>
          <a:p>
            <a:r>
              <a:rPr lang="en-US" dirty="0"/>
              <a:t>In this table, </a:t>
            </a:r>
            <a:r>
              <a:rPr lang="en-US" i="1" dirty="0" err="1"/>
              <a:t>zS</a:t>
            </a:r>
            <a:r>
              <a:rPr lang="en-US" dirty="0"/>
              <a:t> is the standardized sophistication index, </a:t>
            </a:r>
            <a:r>
              <a:rPr lang="en-US" i="1" dirty="0" err="1"/>
              <a:t>zR</a:t>
            </a:r>
            <a:r>
              <a:rPr lang="en-US" dirty="0"/>
              <a:t> is the standardized log branch density, and </a:t>
            </a:r>
            <a:r>
              <a:rPr lang="en-US" i="1" dirty="0" err="1"/>
              <a:t>zH</a:t>
            </a:r>
            <a:r>
              <a:rPr lang="en-US" dirty="0"/>
              <a:t> is the standardized local concentration measure. Each of them is interacted with the cumulative change in the federal funds rate.</a:t>
            </a:r>
          </a:p>
          <a:p>
            <a:endParaRPr lang="en-US" dirty="0"/>
          </a:p>
          <a:p>
            <a:r>
              <a:rPr lang="en-US" dirty="0"/>
              <a:t>Column (1) looks at the </a:t>
            </a:r>
            <a:r>
              <a:rPr lang="en-US" b="1" dirty="0"/>
              <a:t>cumulative change in the effective deposit rate</a:t>
            </a:r>
            <a:r>
              <a:rPr lang="en-US" dirty="0"/>
              <a:t>. All three exposure variables are highly significant and the signs line up with the story. Banks serving </a:t>
            </a:r>
            <a:r>
              <a:rPr lang="en-US" b="1" dirty="0"/>
              <a:t>more sophisticated depositors</a:t>
            </a:r>
            <a:r>
              <a:rPr lang="en-US" dirty="0"/>
              <a:t> raise deposit rates more; banks that are </a:t>
            </a:r>
            <a:r>
              <a:rPr lang="en-US" b="1" dirty="0"/>
              <a:t>more branch-intensive</a:t>
            </a:r>
            <a:r>
              <a:rPr lang="en-US" dirty="0"/>
              <a:t> or operate in more concentrated markets raise deposit rates less. In terms of scale, for a 100-basis-point increase in the policy rate, a bank that is one standard deviation higher in sophistication raises its deposit rate by about 3½ basis points more than the average bank. The coefficient on sophistication is several times larger than the coefficient on HHI, which is consistent with the idea that depositor characteristics matter more than simple concentration for pricing power.</a:t>
            </a:r>
          </a:p>
          <a:p>
            <a:endParaRPr lang="en-US" dirty="0"/>
          </a:p>
          <a:p>
            <a:r>
              <a:rPr lang="en-US" dirty="0"/>
              <a:t>Column (2) turns to </a:t>
            </a:r>
            <a:r>
              <a:rPr lang="en-US" b="1" dirty="0"/>
              <a:t>cumulative core-deposit growth</a:t>
            </a:r>
            <a:r>
              <a:rPr lang="en-US" dirty="0"/>
              <a:t>. Here the picture is much weaker. Only branch density is statistically significant; the sophistication index and the HHI exposure are not. So the characteristics that strongly predict how banks move their deposit rates do </a:t>
            </a:r>
            <a:r>
              <a:rPr lang="en-US" b="1" dirty="0"/>
              <a:t>not</a:t>
            </a:r>
            <a:r>
              <a:rPr lang="en-US" dirty="0"/>
              <a:t> generate a clean pattern for deposit outflows. That suggests that the DSS identification mechanism through local concentration does not show up in my sample.</a:t>
            </a:r>
          </a:p>
          <a:p>
            <a:endParaRPr lang="en-US" dirty="0"/>
          </a:p>
          <a:p>
            <a:r>
              <a:rPr lang="en-US" dirty="0"/>
              <a:t>The Joint F statistics at the bottom summarize instrument strength. For deposit rates the joint F is about 153, so the three exposures together form a very strong instrument for funding costs in the second stage. For deposit quantities the joint F is only about 8, which is in the weak-instrument range. These patterns are robust if I drop the metro and income controls or use alternative definitions of deposit rates and deposit aggregates, or if I use flow changes for dependent variable rather than cumulative changes. </a:t>
            </a:r>
          </a:p>
          <a:p>
            <a:endParaRPr lang="en-US" dirty="0"/>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16</a:t>
            </a:fld>
            <a:endParaRPr lang="en-US"/>
          </a:p>
        </p:txBody>
      </p:sp>
    </p:spTree>
    <p:extLst>
      <p:ext uri="{BB962C8B-B14F-4D97-AF65-F5344CB8AC3E}">
        <p14:creationId xmlns:p14="http://schemas.microsoft.com/office/powerpoint/2010/main" val="1869517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turn to the second stage.</a:t>
            </a:r>
          </a:p>
          <a:p>
            <a:r>
              <a:rPr lang="en-US" dirty="0"/>
              <a:t>Column (1) uses the </a:t>
            </a:r>
            <a:r>
              <a:rPr lang="en-US" b="1" dirty="0"/>
              <a:t>instrumented cumulative deposit rate</a:t>
            </a:r>
            <a:r>
              <a:rPr lang="en-US" dirty="0"/>
              <a:t> as the key regressor. The coefficient is about </a:t>
            </a:r>
            <a:r>
              <a:rPr lang="en-US" b="1" dirty="0"/>
              <a:t>–0.82</a:t>
            </a:r>
            <a:r>
              <a:rPr lang="en-US" dirty="0"/>
              <a:t> and highly significant. Interpreting the magnitude: if a bank’s cumulative effective deposit rate is 10 basis points higher because of the policy shock, its quarterly loan growth is about </a:t>
            </a:r>
            <a:r>
              <a:rPr lang="en-US" b="1" dirty="0"/>
              <a:t>8 basis points lower</a:t>
            </a:r>
            <a:r>
              <a:rPr lang="en-US" dirty="0"/>
              <a:t>. Scaled up, a 100-basis-point higher cumulative deposit rate implies roughly </a:t>
            </a:r>
            <a:r>
              <a:rPr lang="en-US" b="1" dirty="0"/>
              <a:t>0.8 percentage points lower loan growth per quarter</a:t>
            </a:r>
            <a:r>
              <a:rPr lang="en-US" dirty="0"/>
              <a:t>, or a bit above </a:t>
            </a:r>
            <a:r>
              <a:rPr lang="en-US" b="1" dirty="0"/>
              <a:t>3 percentage points lower per year</a:t>
            </a:r>
            <a:r>
              <a:rPr lang="en-US" dirty="0"/>
              <a:t>, which is economically meaningful for banks that normally grow in the low single digits. The </a:t>
            </a:r>
            <a:r>
              <a:rPr lang="en-US" dirty="0" err="1"/>
              <a:t>Kleibergen</a:t>
            </a:r>
            <a:r>
              <a:rPr lang="en-US" dirty="0"/>
              <a:t>–Paap F-statistic is around 150, so the funding-cost instrument is very strong.</a:t>
            </a:r>
          </a:p>
          <a:p>
            <a:endParaRPr lang="en-US" dirty="0"/>
          </a:p>
          <a:p>
            <a:r>
              <a:rPr lang="en-US" dirty="0"/>
              <a:t>Column (2) instead uses the </a:t>
            </a:r>
            <a:r>
              <a:rPr lang="en-US" b="1" dirty="0"/>
              <a:t>instrumented cumulative core-deposit growth</a:t>
            </a:r>
            <a:r>
              <a:rPr lang="en-US" dirty="0"/>
              <a:t>. Here the sign goes the “wrong” way: higher cumulative core-deposit growth is associated with </a:t>
            </a:r>
            <a:r>
              <a:rPr lang="en-US" i="1" dirty="0"/>
              <a:t>lower</a:t>
            </a:r>
            <a:r>
              <a:rPr lang="en-US" dirty="0"/>
              <a:t> loan growth, and the weak-IV statistic is only about 8, so this result should be treated as fragile and mostly suggestive. Combined with the weak first stage for quantities, this is consistent with the idea that deposit </a:t>
            </a:r>
            <a:r>
              <a:rPr lang="en-US" b="1" dirty="0"/>
              <a:t>volumes</a:t>
            </a:r>
            <a:r>
              <a:rPr lang="en-US" dirty="0"/>
              <a:t> are highly endogenous and depend on how banks choose to adjust rates and replace funding. In other words, in this sample the </a:t>
            </a:r>
            <a:r>
              <a:rPr lang="en-US" b="1" dirty="0"/>
              <a:t>price channel clearly dominates the quantity channel</a:t>
            </a:r>
            <a:r>
              <a:rPr lang="en-US" dirty="0"/>
              <a:t>.</a:t>
            </a:r>
          </a:p>
          <a:p>
            <a:endParaRPr lang="en-US" dirty="0"/>
          </a:p>
          <a:p>
            <a:r>
              <a:rPr lang="en-US" dirty="0"/>
              <a:t>These conclusions are robust to using alternative definitions of deposit rates and deposit aggregates as the instrumented variable, and they remain when I restrict the sample to banks with assets below 10 billion dollars. However, when I look at loan sub-categories such as single-family, multifamily, and C&amp;I loans separately, the estimates become imprecise and I do not find statistically strong effects, likely because reporting at that level of detail is noisier.</a:t>
            </a:r>
          </a:p>
          <a:p>
            <a:endParaRPr lang="en-US" dirty="0"/>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17</a:t>
            </a:fld>
            <a:endParaRPr lang="en-US"/>
          </a:p>
        </p:txBody>
      </p:sp>
    </p:spTree>
    <p:extLst>
      <p:ext uri="{BB962C8B-B14F-4D97-AF65-F5344CB8AC3E}">
        <p14:creationId xmlns:p14="http://schemas.microsoft.com/office/powerpoint/2010/main" val="612912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t>
            </a:r>
            <a:r>
              <a:rPr lang="en-US" dirty="0" err="1"/>
              <a:t>summarise</a:t>
            </a:r>
            <a:r>
              <a:rPr lang="en-US" dirty="0"/>
              <a:t> what the results say about the deposit channel.</a:t>
            </a:r>
          </a:p>
          <a:p>
            <a:endParaRPr lang="en-US" dirty="0"/>
          </a:p>
          <a:p>
            <a:r>
              <a:rPr lang="en-US" dirty="0"/>
              <a:t>First, on the </a:t>
            </a:r>
            <a:r>
              <a:rPr lang="en-US" b="1" dirty="0"/>
              <a:t>pricing margin</a:t>
            </a:r>
            <a:r>
              <a:rPr lang="en-US" dirty="0"/>
              <a:t>, the evidence is very strong. The pre-2021 exposure measures – especially the sophistication index and branch intensity – do a great job predicting how much each bank’s effective deposit rate moves over the hiking cycle. That is exactly H1. Banks with more sophisticated depositor bases raise deposit rates more, and branch-intensive banks raise them less.</a:t>
            </a:r>
          </a:p>
          <a:p>
            <a:endParaRPr lang="en-US" dirty="0"/>
          </a:p>
          <a:p>
            <a:r>
              <a:rPr lang="en-US" dirty="0"/>
              <a:t>Second, on the </a:t>
            </a:r>
            <a:r>
              <a:rPr lang="en-US" b="1" dirty="0"/>
              <a:t>quantity margin</a:t>
            </a:r>
            <a:r>
              <a:rPr lang="en-US" dirty="0"/>
              <a:t>, the picture is much weaker. The same exposures do not give a clean pattern for cumulative deposit growth. Sophistication and HHI do not systematically predict larger outflows, and the first stage for deposit quantities is modest. That goes against H2 and against a simple DSS-style quantity story.</a:t>
            </a:r>
          </a:p>
          <a:p>
            <a:r>
              <a:rPr lang="en-US" dirty="0"/>
              <a:t>Third, when I take these first-stage results into the second stage, I find a clear </a:t>
            </a:r>
            <a:r>
              <a:rPr lang="en-US" b="1" dirty="0"/>
              <a:t>funding-cost channel</a:t>
            </a:r>
            <a:r>
              <a:rPr lang="en-US" dirty="0"/>
              <a:t>. Policy-induced increases in effective deposit rates are associated with materially lower loan growth, even after controlling for time and regional effects. That supports H3.</a:t>
            </a:r>
          </a:p>
          <a:p>
            <a:endParaRPr lang="en-US" dirty="0"/>
          </a:p>
          <a:p>
            <a:r>
              <a:rPr lang="en-US" dirty="0"/>
              <a:t>In contrast, when I use instrumented deposit growth instead of deposit rates, the coefficients are small, sometimes wrong-signed, and the instruments are weak. There is no robust </a:t>
            </a:r>
            <a:r>
              <a:rPr lang="en-US" b="1" dirty="0"/>
              <a:t>deposit-outflow channel</a:t>
            </a:r>
            <a:r>
              <a:rPr lang="en-US" dirty="0"/>
              <a:t> in this sample, so H4 is not supported.</a:t>
            </a:r>
          </a:p>
          <a:p>
            <a:endParaRPr lang="en-US" dirty="0"/>
          </a:p>
          <a:p>
            <a:r>
              <a:rPr lang="en-US" dirty="0"/>
              <a:t>Overall, the results point to a </a:t>
            </a:r>
            <a:r>
              <a:rPr lang="en-US" b="1" dirty="0"/>
              <a:t>deposit price channel</a:t>
            </a:r>
            <a:r>
              <a:rPr lang="en-US" dirty="0"/>
              <a:t> rather than a mechanical “core deposits equal lending capacity” channel. And within that price channel, depositor characteristics and the bank’s funding model matter much more than simple county concentration as measured by HHI.</a:t>
            </a:r>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18</a:t>
            </a:fld>
            <a:endParaRPr lang="en-US"/>
          </a:p>
        </p:txBody>
      </p:sp>
    </p:spTree>
    <p:extLst>
      <p:ext uri="{BB962C8B-B14F-4D97-AF65-F5344CB8AC3E}">
        <p14:creationId xmlns:p14="http://schemas.microsoft.com/office/powerpoint/2010/main" val="3956198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finish with a few </a:t>
            </a:r>
            <a:r>
              <a:rPr lang="en-US" i="1" dirty="0"/>
              <a:t>suggestive</a:t>
            </a:r>
            <a:r>
              <a:rPr lang="en-US" dirty="0"/>
              <a:t> micro mechanisms that are consistent with the reduced-form funding-cost channel I find.</a:t>
            </a:r>
          </a:p>
          <a:p>
            <a:endParaRPr lang="en-US" dirty="0"/>
          </a:p>
          <a:p>
            <a:r>
              <a:rPr lang="en-US" dirty="0"/>
              <a:t>First, </a:t>
            </a:r>
            <a:r>
              <a:rPr lang="en-US" b="1" dirty="0"/>
              <a:t>loan pricing may be fairly competitive</a:t>
            </a:r>
            <a:r>
              <a:rPr lang="en-US" dirty="0"/>
              <a:t>, at least within each lending market. The policy shock is common, but my funding-cost shocks are idiosyncratic across banks. If loan rates are largely pinned down by competition with other lenders, an individual bank that suffers a larger increase in its deposit funding cost cannot simply raise loan rates one-for-one without losing business. In that case, the main margin of adjustment is to reduce loan </a:t>
            </a:r>
            <a:r>
              <a:rPr lang="en-US" i="1" dirty="0"/>
              <a:t>quantities</a:t>
            </a:r>
            <a:r>
              <a:rPr lang="en-US" dirty="0"/>
              <a:t> rather than mark up prices.</a:t>
            </a:r>
          </a:p>
          <a:p>
            <a:endParaRPr lang="en-US" dirty="0"/>
          </a:p>
          <a:p>
            <a:r>
              <a:rPr lang="en-US" dirty="0"/>
              <a:t>Second, there is a </a:t>
            </a:r>
            <a:r>
              <a:rPr lang="en-US" b="1" dirty="0"/>
              <a:t>Stiglitz–Weiss–style adverse selection story</a:t>
            </a:r>
            <a:r>
              <a:rPr lang="en-US" dirty="0"/>
              <a:t>. Even if a bank could raise loan rates, doing so would tend to attract riskier borrowers and drive away the safer ones. If the funding shock is persistent, the bank may prefer to keep rates roughly in line with competitors and instead ration credit, which again shows up as lower loan growth rather than higher spreads.</a:t>
            </a:r>
          </a:p>
          <a:p>
            <a:endParaRPr lang="en-US" dirty="0"/>
          </a:p>
          <a:p>
            <a:r>
              <a:rPr lang="en-US" dirty="0"/>
              <a:t>Third, narrower </a:t>
            </a:r>
            <a:r>
              <a:rPr lang="en-US" b="1" dirty="0"/>
              <a:t>net interest margins interact with capital constraints</a:t>
            </a:r>
            <a:r>
              <a:rPr lang="en-US" dirty="0"/>
              <a:t>. Higher deposit rates compress the spread between loan yields and funding costs. Lower margins mean lower earnings and slower capital accumulation. Given Basel-style capital ratios, a bank that sees its earnings and capital buffer fall has an incentive to shrink risk-weighted assets instead of expanding the loan book, so the funding-cost shock is transmitted through both profitability and regulation.</a:t>
            </a:r>
          </a:p>
          <a:p>
            <a:endParaRPr lang="en-US" dirty="0"/>
          </a:p>
          <a:p>
            <a:r>
              <a:rPr lang="en-US" dirty="0"/>
              <a:t>Finally, notice that none of these mechanisms rely on </a:t>
            </a:r>
            <a:r>
              <a:rPr lang="en-US" b="1" dirty="0"/>
              <a:t>deposits being literally irreplaceable</a:t>
            </a:r>
            <a:r>
              <a:rPr lang="en-US" dirty="0"/>
              <a:t>. The evidence suggests that banks can and do substitute into large time deposits or wholesale funding. What matters in my results is not the physical availability of funding, but the </a:t>
            </a:r>
            <a:r>
              <a:rPr lang="en-US" i="1" dirty="0"/>
              <a:t>cost</a:t>
            </a:r>
            <a:r>
              <a:rPr lang="en-US" dirty="0"/>
              <a:t> of replacing cheap core deposits. Banks facing higher replacement costs adjust by tightening loan supply, which is why we see a strong price channel and only a weak quantity channel in the data.</a:t>
            </a:r>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19</a:t>
            </a:fld>
            <a:endParaRPr lang="en-US"/>
          </a:p>
        </p:txBody>
      </p:sp>
    </p:spTree>
    <p:extLst>
      <p:ext uri="{BB962C8B-B14F-4D97-AF65-F5344CB8AC3E}">
        <p14:creationId xmlns:p14="http://schemas.microsoft.com/office/powerpoint/2010/main" val="822580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end with a few policy implications.</a:t>
            </a:r>
          </a:p>
          <a:p>
            <a:endParaRPr lang="en-US" dirty="0"/>
          </a:p>
          <a:p>
            <a:r>
              <a:rPr lang="en-US" dirty="0"/>
              <a:t>First, the results suggest that interest rate policy should be thought of as working on </a:t>
            </a:r>
            <a:r>
              <a:rPr lang="en-US" b="1" dirty="0"/>
              <a:t>both sides</a:t>
            </a:r>
            <a:r>
              <a:rPr lang="en-US" dirty="0"/>
              <a:t> of the credit market. The standard story focuses on how higher rates reduce credit demand. My estimates show that policy can also move </a:t>
            </a:r>
            <a:r>
              <a:rPr lang="en-US" b="1" dirty="0"/>
              <a:t>credit supply</a:t>
            </a:r>
            <a:r>
              <a:rPr lang="en-US" dirty="0"/>
              <a:t>, by raising deposit funding costs for some banks much more than for others and inducing them to cut back loan growth.</a:t>
            </a:r>
          </a:p>
          <a:p>
            <a:endParaRPr lang="en-US" dirty="0"/>
          </a:p>
          <a:p>
            <a:r>
              <a:rPr lang="en-US" dirty="0"/>
              <a:t>Second, this matters especially during </a:t>
            </a:r>
            <a:r>
              <a:rPr lang="en-US" b="1" dirty="0"/>
              <a:t>rapid hiking cycles</a:t>
            </a:r>
            <a:r>
              <a:rPr lang="en-US" dirty="0"/>
              <a:t> like 2022–23. After a long low-rate period, some banks are much more exposed to a sudden increase in deposit rates. If policymakers look only at macro demand indicators, they may underestimate the risk of a localized or sectoral </a:t>
            </a:r>
            <a:r>
              <a:rPr lang="en-US" b="1" dirty="0"/>
              <a:t>credit-supply shock</a:t>
            </a:r>
            <a:r>
              <a:rPr lang="en-US" dirty="0"/>
              <a:t> coming from these funding-cost pressures.</a:t>
            </a:r>
          </a:p>
          <a:p>
            <a:endParaRPr lang="en-US" dirty="0"/>
          </a:p>
          <a:p>
            <a:r>
              <a:rPr lang="en-US" dirty="0"/>
              <a:t>Third, there is a potential </a:t>
            </a:r>
            <a:r>
              <a:rPr lang="en-US" b="1" dirty="0"/>
              <a:t>distributional dimension</a:t>
            </a:r>
            <a:r>
              <a:rPr lang="en-US" dirty="0"/>
              <a:t>. Borrowers who rely on relationship lending – small businesses, households in smaller communities, or more marginal social groups – may not be able to switch easily to a bank that was less affected by the funding-cost shock. For them, a given hiking cycle can translate into a much sharper tightening of credit than for large or sophisticated borrowers who can shop across lenders.</a:t>
            </a:r>
          </a:p>
          <a:p>
            <a:r>
              <a:rPr lang="en-US" dirty="0"/>
              <a:t>So the deposit price channel I document is not just a technical detail of bank balance sheets; it can shape where and on whom the real effects of monetary policy are concentrated.</a:t>
            </a:r>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20</a:t>
            </a:fld>
            <a:endParaRPr lang="en-US"/>
          </a:p>
        </p:txBody>
      </p:sp>
    </p:spTree>
    <p:extLst>
      <p:ext uri="{BB962C8B-B14F-4D97-AF65-F5344CB8AC3E}">
        <p14:creationId xmlns:p14="http://schemas.microsoft.com/office/powerpoint/2010/main" val="39344957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end with what I see as the main contributions and limitations of the thesis.</a:t>
            </a:r>
          </a:p>
          <a:p>
            <a:endParaRPr lang="en-US" dirty="0"/>
          </a:p>
          <a:p>
            <a:r>
              <a:rPr lang="en-US" dirty="0"/>
              <a:t>On the contribution side, first, the paper provides </a:t>
            </a:r>
            <a:r>
              <a:rPr lang="en-US" b="1" dirty="0"/>
              <a:t>bank-level, reduced-form evidence</a:t>
            </a:r>
            <a:r>
              <a:rPr lang="en-US" dirty="0"/>
              <a:t> that monetary policy affects credit supply through deposit funding costs. Using the recent hiking cycle, I show that banks that are hit harder on their effective deposit rates do in fact grow loans more slowly, even after controlling for time and regional effects.</a:t>
            </a:r>
          </a:p>
          <a:p>
            <a:endParaRPr lang="en-US" dirty="0"/>
          </a:p>
          <a:p>
            <a:r>
              <a:rPr lang="en-US" dirty="0"/>
              <a:t>Second, by confronting DSS with </a:t>
            </a:r>
            <a:r>
              <a:rPr lang="en-US" dirty="0" err="1"/>
              <a:t>Begenau</a:t>
            </a:r>
            <a:r>
              <a:rPr lang="en-US" dirty="0"/>
              <a:t>–Stafford and Narayanan–</a:t>
            </a:r>
            <a:r>
              <a:rPr lang="en-US" dirty="0" err="1"/>
              <a:t>Ratnadiwakara</a:t>
            </a:r>
            <a:r>
              <a:rPr lang="en-US" dirty="0"/>
              <a:t>, and then taking a bank-level design to the data, the paper </a:t>
            </a:r>
            <a:r>
              <a:rPr lang="en-US" b="1" dirty="0"/>
              <a:t>reframes the deposit channel</a:t>
            </a:r>
            <a:r>
              <a:rPr lang="en-US" dirty="0"/>
              <a:t>. The evidence lines up much more with a deposit </a:t>
            </a:r>
            <a:r>
              <a:rPr lang="en-US" i="1" dirty="0"/>
              <a:t>price</a:t>
            </a:r>
            <a:r>
              <a:rPr lang="en-US" dirty="0"/>
              <a:t> channel than with a pure core-deposit quantity channel, and it highlights depositor sophistication and branch-intensive funding as more important than simple HHI.</a:t>
            </a:r>
          </a:p>
          <a:p>
            <a:endParaRPr lang="en-US" dirty="0"/>
          </a:p>
          <a:p>
            <a:r>
              <a:rPr lang="en-US" dirty="0"/>
              <a:t>Third, there is a methodological contribution. I construct new </a:t>
            </a:r>
            <a:r>
              <a:rPr lang="en-US" b="1" dirty="0"/>
              <a:t>exposure indices</a:t>
            </a:r>
            <a:r>
              <a:rPr lang="en-US" dirty="0"/>
              <a:t>, including a PCA-based sophistication index that uses refinancing intensity as one input, and I combine these with the cumulative funds-rate path in a shift–share IV framework. That design could be reused to study other outcomes or future cycles.</a:t>
            </a:r>
          </a:p>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21</a:t>
            </a:fld>
            <a:endParaRPr lang="en-US"/>
          </a:p>
        </p:txBody>
      </p:sp>
    </p:spTree>
    <p:extLst>
      <p:ext uri="{BB962C8B-B14F-4D97-AF65-F5344CB8AC3E}">
        <p14:creationId xmlns:p14="http://schemas.microsoft.com/office/powerpoint/2010/main" val="3715363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limitations, the estimates are deliberately reduced form. I cannot cleanly distinguish between different micro mechanisms – such as adverse selection, and capital constraints - that might generate the same funding-cost elasticity. I also do not attempt to translate these bank-level effects into a quantitative statement about the overall impact of policy on GDP or employment; that would require a calibrated model. Finally, the analysis is based on a single tightening episode in a relatively short panel, so we do not yet know how stable these elasticities are across different monetary regimes.</a:t>
            </a:r>
          </a:p>
        </p:txBody>
      </p:sp>
      <p:sp>
        <p:nvSpPr>
          <p:cNvPr id="4" name="Slide Number Placeholder 3"/>
          <p:cNvSpPr>
            <a:spLocks noGrp="1"/>
          </p:cNvSpPr>
          <p:nvPr>
            <p:ph type="sldNum" sz="quarter" idx="5"/>
          </p:nvPr>
        </p:nvSpPr>
        <p:spPr/>
        <p:txBody>
          <a:bodyPr/>
          <a:lstStyle/>
          <a:p>
            <a:fld id="{F8629CC6-5E55-4726-98C3-B3E14BE45008}" type="slidenum">
              <a:rPr lang="en-US" smtClean="0"/>
              <a:t>22</a:t>
            </a:fld>
            <a:endParaRPr lang="en-US"/>
          </a:p>
        </p:txBody>
      </p:sp>
    </p:spTree>
    <p:extLst>
      <p:ext uri="{BB962C8B-B14F-4D97-AF65-F5344CB8AC3E}">
        <p14:creationId xmlns:p14="http://schemas.microsoft.com/office/powerpoint/2010/main" val="4041461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629CC6-5E55-4726-98C3-B3E14BE45008}" type="slidenum">
              <a:rPr lang="en-US" smtClean="0"/>
              <a:t>23</a:t>
            </a:fld>
            <a:endParaRPr lang="en-US"/>
          </a:p>
        </p:txBody>
      </p:sp>
    </p:spTree>
    <p:extLst>
      <p:ext uri="{BB962C8B-B14F-4D97-AF65-F5344CB8AC3E}">
        <p14:creationId xmlns:p14="http://schemas.microsoft.com/office/powerpoint/2010/main" val="3870645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34D7-2694-D14B-082A-35E4108B40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F1555F-8468-7A76-5B8F-4B4CB3A3D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E8939A-1494-EF25-5748-0F42B0BD2BCC}"/>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5" name="Footer Placeholder 4">
            <a:extLst>
              <a:ext uri="{FF2B5EF4-FFF2-40B4-BE49-F238E27FC236}">
                <a16:creationId xmlns:a16="http://schemas.microsoft.com/office/drawing/2014/main" id="{93CA103C-7C58-1216-248E-C47F106755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BA737-C123-0A8B-A94F-785E07842FDC}"/>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1814876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596F-C548-9AC3-1B17-8DA80A4072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BB465-EC2D-E3C2-C7EC-58C7BD19A7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B2E3E-6D86-F34D-AE66-9375019DFF4C}"/>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5" name="Footer Placeholder 4">
            <a:extLst>
              <a:ext uri="{FF2B5EF4-FFF2-40B4-BE49-F238E27FC236}">
                <a16:creationId xmlns:a16="http://schemas.microsoft.com/office/drawing/2014/main" id="{2B40F9D7-F0D0-6175-AC0A-30B78B5A1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62F2ED-9A42-95F7-C991-CF765CDB81DF}"/>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4117980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CEA3-3053-E510-43C4-DE497EAB27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F667CF-1CEA-F53A-CAEA-03E0246FDC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5B197D-1F0E-30E5-C451-4C2936DDBC0F}"/>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5" name="Footer Placeholder 4">
            <a:extLst>
              <a:ext uri="{FF2B5EF4-FFF2-40B4-BE49-F238E27FC236}">
                <a16:creationId xmlns:a16="http://schemas.microsoft.com/office/drawing/2014/main" id="{7A8480DD-0ADE-8448-7C4A-B809363E7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EC9D98-4E4F-E4C5-D50A-9A0C2A744780}"/>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3754941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46342-FFDA-00C7-9E99-615E8DEB0B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95DE78-7BF2-D42E-EA98-501BF49154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D467AA-651E-9A4B-BBE3-02DAB92E94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C51959-B7B7-018F-7EF2-7DB9D3004886}"/>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6" name="Footer Placeholder 5">
            <a:extLst>
              <a:ext uri="{FF2B5EF4-FFF2-40B4-BE49-F238E27FC236}">
                <a16:creationId xmlns:a16="http://schemas.microsoft.com/office/drawing/2014/main" id="{8EDCA2E6-E1F0-4B5F-DCF2-94366A29F0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F98868-8CEB-FFAC-A5EC-F58F6EB71ABA}"/>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310227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A8112-3FAD-885F-3CE3-A00F74EA6D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E8CAE7-7C47-83FE-7725-63B8E1CF0B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EB99A5-1D30-D239-EBA9-58D3CD1215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CE951F-6768-2435-4BA4-EB005551C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95366A-E56D-78E9-0CE0-8BC6F4BFC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136678-3D9C-4479-050F-9D3E8FDD1779}"/>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8" name="Footer Placeholder 7">
            <a:extLst>
              <a:ext uri="{FF2B5EF4-FFF2-40B4-BE49-F238E27FC236}">
                <a16:creationId xmlns:a16="http://schemas.microsoft.com/office/drawing/2014/main" id="{609E2D58-1A44-9B3F-1A8D-C94F1C0CA7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34E9F5-3B54-1DAF-4D7F-341C8393C721}"/>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406374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32697-12B9-45E3-8D3C-A00877B3D5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BA7A22-EE5F-91BB-4EA6-A593D1DFD947}"/>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4" name="Footer Placeholder 3">
            <a:extLst>
              <a:ext uri="{FF2B5EF4-FFF2-40B4-BE49-F238E27FC236}">
                <a16:creationId xmlns:a16="http://schemas.microsoft.com/office/drawing/2014/main" id="{4D458652-11D3-C368-1BFD-34216B4B35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11FEB3-0CBB-D0E7-B02C-54604636001B}"/>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1022057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900EBA-D75D-5165-7D13-87C4E91E27A2}"/>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3" name="Footer Placeholder 2">
            <a:extLst>
              <a:ext uri="{FF2B5EF4-FFF2-40B4-BE49-F238E27FC236}">
                <a16:creationId xmlns:a16="http://schemas.microsoft.com/office/drawing/2014/main" id="{BB80806C-2BEF-E431-08CC-C58B9A7ED2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49453F-B727-6C61-83D3-EAE537A9E881}"/>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3349057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1B821-A1E4-7E5A-6A9A-6F80338456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E6F2EF-FCB0-B1AD-AE22-BBC3F27DEE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4B6FB9-E145-2D54-AC6F-BBDB0EBCBA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C2336-62D4-492A-47A9-49D3B6824821}"/>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6" name="Footer Placeholder 5">
            <a:extLst>
              <a:ext uri="{FF2B5EF4-FFF2-40B4-BE49-F238E27FC236}">
                <a16:creationId xmlns:a16="http://schemas.microsoft.com/office/drawing/2014/main" id="{4CDFDA54-03A6-0D8B-50F3-C10EEF393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A959C1-F06B-1CD8-0934-A01DF18C830C}"/>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3437665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51C4F-4A14-364A-AB8E-D6C7AE1E3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80F20E-06E3-081A-7046-9D1AC10666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B0FACD-BA0F-275E-0715-DC2E8B2751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5B4B8A-34AA-7FC8-810F-D263C3C8E59E}"/>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6" name="Footer Placeholder 5">
            <a:extLst>
              <a:ext uri="{FF2B5EF4-FFF2-40B4-BE49-F238E27FC236}">
                <a16:creationId xmlns:a16="http://schemas.microsoft.com/office/drawing/2014/main" id="{A2207FAF-A8FA-3837-CE68-392609A308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0CF0ED-7C3E-6BB8-E6C0-0EB35BCCE7D4}"/>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815480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3BC6-EAB7-D807-5093-6D133B5C52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69BDE0-3FBB-D3DB-93BA-FCC0ED69D5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282F2-A2F3-282E-3E2B-467E54891E18}"/>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5" name="Footer Placeholder 4">
            <a:extLst>
              <a:ext uri="{FF2B5EF4-FFF2-40B4-BE49-F238E27FC236}">
                <a16:creationId xmlns:a16="http://schemas.microsoft.com/office/drawing/2014/main" id="{4A896642-37D8-9312-4862-77389F13D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A459C-BD87-FF88-6C69-BA24F508E49E}"/>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1939731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EADA51-9A91-FBF4-EE58-51C7022B84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76AB05-AF94-AD19-4969-C73D6EFDA0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50B844-1D74-C282-FEF1-E738FF5EB0D2}"/>
              </a:ext>
            </a:extLst>
          </p:cNvPr>
          <p:cNvSpPr>
            <a:spLocks noGrp="1"/>
          </p:cNvSpPr>
          <p:nvPr>
            <p:ph type="dt" sz="half" idx="10"/>
          </p:nvPr>
        </p:nvSpPr>
        <p:spPr/>
        <p:txBody>
          <a:bodyPr/>
          <a:lstStyle/>
          <a:p>
            <a:fld id="{5B7192E2-533C-467E-84B1-F8C74064F8E5}" type="datetimeFigureOut">
              <a:rPr lang="en-US" smtClean="0"/>
              <a:t>12/10/2025</a:t>
            </a:fld>
            <a:endParaRPr lang="en-US"/>
          </a:p>
        </p:txBody>
      </p:sp>
      <p:sp>
        <p:nvSpPr>
          <p:cNvPr id="5" name="Footer Placeholder 4">
            <a:extLst>
              <a:ext uri="{FF2B5EF4-FFF2-40B4-BE49-F238E27FC236}">
                <a16:creationId xmlns:a16="http://schemas.microsoft.com/office/drawing/2014/main" id="{1B25E9F8-01D3-23A3-4398-47C984404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2D270-E9D5-5567-625C-E24F24864A8A}"/>
              </a:ext>
            </a:extLst>
          </p:cNvPr>
          <p:cNvSpPr>
            <a:spLocks noGrp="1"/>
          </p:cNvSpPr>
          <p:nvPr>
            <p:ph type="sldNum" sz="quarter" idx="12"/>
          </p:nvPr>
        </p:nvSpPr>
        <p:spPr/>
        <p:txBody>
          <a:bodyPr/>
          <a:lstStyle/>
          <a:p>
            <a:fld id="{662C9EB2-55B0-401B-B9C9-B9E04A3A2311}" type="slidenum">
              <a:rPr lang="en-US" smtClean="0"/>
              <a:t>‹#›</a:t>
            </a:fld>
            <a:endParaRPr lang="en-US"/>
          </a:p>
        </p:txBody>
      </p:sp>
    </p:spTree>
    <p:extLst>
      <p:ext uri="{BB962C8B-B14F-4D97-AF65-F5344CB8AC3E}">
        <p14:creationId xmlns:p14="http://schemas.microsoft.com/office/powerpoint/2010/main" val="2804372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A283D4-0673-70FB-D7F2-197EB522D0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0B3488-100E-9B36-63C7-6F005F9463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A1BE1-0717-6FD1-472A-CB7736407D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7192E2-533C-467E-84B1-F8C74064F8E5}" type="datetimeFigureOut">
              <a:rPr lang="en-US" smtClean="0"/>
              <a:t>12/10/2025</a:t>
            </a:fld>
            <a:endParaRPr lang="en-US"/>
          </a:p>
        </p:txBody>
      </p:sp>
      <p:sp>
        <p:nvSpPr>
          <p:cNvPr id="5" name="Footer Placeholder 4">
            <a:extLst>
              <a:ext uri="{FF2B5EF4-FFF2-40B4-BE49-F238E27FC236}">
                <a16:creationId xmlns:a16="http://schemas.microsoft.com/office/drawing/2014/main" id="{EC281960-7B71-1614-5DB9-29C6A8B1B2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96E53A-9FBF-C480-7B80-4B7BECA99C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2C9EB2-55B0-401B-B9C9-B9E04A3A2311}" type="slidenum">
              <a:rPr lang="en-US" smtClean="0"/>
              <a:t>‹#›</a:t>
            </a:fld>
            <a:endParaRPr lang="en-US"/>
          </a:p>
        </p:txBody>
      </p:sp>
    </p:spTree>
    <p:extLst>
      <p:ext uri="{BB962C8B-B14F-4D97-AF65-F5344CB8AC3E}">
        <p14:creationId xmlns:p14="http://schemas.microsoft.com/office/powerpoint/2010/main" val="2933176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4FACE-8DDF-8DB1-E373-4EDCC2F1FFD3}"/>
              </a:ext>
            </a:extLst>
          </p:cNvPr>
          <p:cNvSpPr>
            <a:spLocks noGrp="1"/>
          </p:cNvSpPr>
          <p:nvPr>
            <p:ph type="ctrTitle"/>
          </p:nvPr>
        </p:nvSpPr>
        <p:spPr/>
        <p:txBody>
          <a:bodyPr>
            <a:noAutofit/>
          </a:bodyPr>
          <a:lstStyle/>
          <a:p>
            <a:r>
              <a:rPr lang="en-US" sz="3200" dirty="0"/>
              <a:t>Monetary Policy, Deposit Funding Shocks, and Bank</a:t>
            </a:r>
            <a:br>
              <a:rPr lang="en-US" sz="3200" dirty="0"/>
            </a:br>
            <a:r>
              <a:rPr lang="en-US" sz="3200" dirty="0"/>
              <a:t>Credit Supply: Bank-Level IV Evidence</a:t>
            </a:r>
            <a:br>
              <a:rPr lang="en-US" sz="3200" dirty="0"/>
            </a:br>
            <a:endParaRPr lang="en-US" sz="3200" dirty="0"/>
          </a:p>
        </p:txBody>
      </p:sp>
      <p:sp>
        <p:nvSpPr>
          <p:cNvPr id="3" name="Subtitle 2">
            <a:extLst>
              <a:ext uri="{FF2B5EF4-FFF2-40B4-BE49-F238E27FC236}">
                <a16:creationId xmlns:a16="http://schemas.microsoft.com/office/drawing/2014/main" id="{4B6E2796-194C-CB7C-ABD1-5CABA9760CBA}"/>
              </a:ext>
            </a:extLst>
          </p:cNvPr>
          <p:cNvSpPr>
            <a:spLocks noGrp="1"/>
          </p:cNvSpPr>
          <p:nvPr>
            <p:ph type="subTitle" idx="1"/>
          </p:nvPr>
        </p:nvSpPr>
        <p:spPr/>
        <p:txBody>
          <a:bodyPr/>
          <a:lstStyle/>
          <a:p>
            <a:r>
              <a:rPr lang="en-US" dirty="0"/>
              <a:t>Chenning Xu</a:t>
            </a:r>
          </a:p>
          <a:p>
            <a:r>
              <a:rPr lang="en-US" dirty="0"/>
              <a:t>December 12</a:t>
            </a:r>
            <a:r>
              <a:rPr lang="en-US" baseline="30000" dirty="0"/>
              <a:t>th</a:t>
            </a:r>
            <a:r>
              <a:rPr lang="en-US" dirty="0"/>
              <a:t>, 2025</a:t>
            </a:r>
          </a:p>
        </p:txBody>
      </p:sp>
    </p:spTree>
    <p:extLst>
      <p:ext uri="{BB962C8B-B14F-4D97-AF65-F5344CB8AC3E}">
        <p14:creationId xmlns:p14="http://schemas.microsoft.com/office/powerpoint/2010/main" val="3349198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9078-3DCD-9D0D-D12C-740B7DA28082}"/>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4EEEE1E-FB66-5A92-648A-9DDCAFACAE46}"/>
              </a:ext>
            </a:extLst>
          </p:cNvPr>
          <p:cNvSpPr>
            <a:spLocks noGrp="1"/>
          </p:cNvSpPr>
          <p:nvPr>
            <p:ph idx="1"/>
          </p:nvPr>
        </p:nvSpPr>
        <p:spPr/>
        <p:txBody>
          <a:bodyPr/>
          <a:lstStyle/>
          <a:p>
            <a:r>
              <a:rPr lang="en-US" dirty="0"/>
              <a:t>1) Motivation</a:t>
            </a:r>
          </a:p>
          <a:p>
            <a:r>
              <a:rPr lang="en-US" dirty="0"/>
              <a:t>2) Background</a:t>
            </a:r>
          </a:p>
          <a:p>
            <a:r>
              <a:rPr lang="en-US" dirty="0"/>
              <a:t>3) The “Deposit Channel”</a:t>
            </a:r>
          </a:p>
          <a:p>
            <a:r>
              <a:rPr lang="en-US" dirty="0"/>
              <a:t>4) Empirical Strategy</a:t>
            </a:r>
          </a:p>
          <a:p>
            <a:r>
              <a:rPr lang="en-US" dirty="0"/>
              <a:t>5) Results</a:t>
            </a:r>
          </a:p>
          <a:p>
            <a:r>
              <a:rPr lang="en-US" dirty="0"/>
              <a:t>6) Discussion</a:t>
            </a:r>
          </a:p>
          <a:p>
            <a:r>
              <a:rPr lang="en-US" dirty="0"/>
              <a:t>7) Contribution and Limitations</a:t>
            </a:r>
          </a:p>
        </p:txBody>
      </p:sp>
    </p:spTree>
    <p:extLst>
      <p:ext uri="{BB962C8B-B14F-4D97-AF65-F5344CB8AC3E}">
        <p14:creationId xmlns:p14="http://schemas.microsoft.com/office/powerpoint/2010/main" val="2292949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280E0-2D79-54AA-74BD-538719DA868A}"/>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F388BF6D-D942-1C86-C845-FD3E37C1F0F0}"/>
              </a:ext>
            </a:extLst>
          </p:cNvPr>
          <p:cNvSpPr>
            <a:spLocks noGrp="1"/>
          </p:cNvSpPr>
          <p:nvPr>
            <p:ph idx="1"/>
          </p:nvPr>
        </p:nvSpPr>
        <p:spPr/>
        <p:txBody>
          <a:bodyPr/>
          <a:lstStyle/>
          <a:p>
            <a:endParaRPr lang="en-US" dirty="0"/>
          </a:p>
          <a:p>
            <a:r>
              <a:rPr lang="en-US" dirty="0"/>
              <a:t>How does interest rate policy really transmit?</a:t>
            </a:r>
          </a:p>
          <a:p>
            <a:endParaRPr lang="en-US" dirty="0"/>
          </a:p>
          <a:p>
            <a:r>
              <a:rPr lang="en-US" dirty="0"/>
              <a:t>Lower credit demand; Keynes </a:t>
            </a:r>
          </a:p>
          <a:p>
            <a:endParaRPr lang="en-US" dirty="0"/>
          </a:p>
          <a:p>
            <a:r>
              <a:rPr lang="en-US" dirty="0"/>
              <a:t>What about credit supply? Schumpeter and Minsky</a:t>
            </a:r>
          </a:p>
          <a:p>
            <a:endParaRPr lang="en-US" dirty="0"/>
          </a:p>
          <a:p>
            <a:r>
              <a:rPr lang="en-US" dirty="0"/>
              <a:t>The role of banks</a:t>
            </a:r>
          </a:p>
        </p:txBody>
      </p:sp>
    </p:spTree>
    <p:extLst>
      <p:ext uri="{BB962C8B-B14F-4D97-AF65-F5344CB8AC3E}">
        <p14:creationId xmlns:p14="http://schemas.microsoft.com/office/powerpoint/2010/main" val="2830408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DD23-FB1C-4FBC-54C5-EA46AFA6B4C5}"/>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50A09D05-22FE-2A2B-2061-5867FC12C5DD}"/>
              </a:ext>
            </a:extLst>
          </p:cNvPr>
          <p:cNvSpPr>
            <a:spLocks noGrp="1"/>
          </p:cNvSpPr>
          <p:nvPr>
            <p:ph idx="1"/>
          </p:nvPr>
        </p:nvSpPr>
        <p:spPr/>
        <p:txBody>
          <a:bodyPr>
            <a:normAutofit lnSpcReduction="10000"/>
          </a:bodyPr>
          <a:lstStyle/>
          <a:p>
            <a:r>
              <a:rPr lang="en-US" dirty="0"/>
              <a:t>The “textbook” channel</a:t>
            </a:r>
          </a:p>
          <a:p>
            <a:endParaRPr lang="en-US" dirty="0"/>
          </a:p>
          <a:p>
            <a:r>
              <a:rPr lang="en-US" dirty="0"/>
              <a:t>Reserve channel </a:t>
            </a:r>
          </a:p>
          <a:p>
            <a:endParaRPr lang="en-US" dirty="0"/>
          </a:p>
          <a:p>
            <a:r>
              <a:rPr lang="en-US" dirty="0"/>
              <a:t>Balance Sheet channels</a:t>
            </a:r>
          </a:p>
          <a:p>
            <a:endParaRPr lang="en-US" dirty="0"/>
          </a:p>
          <a:p>
            <a:r>
              <a:rPr lang="en-US" dirty="0"/>
              <a:t>Bank capital channel</a:t>
            </a:r>
          </a:p>
          <a:p>
            <a:endParaRPr lang="en-US" dirty="0"/>
          </a:p>
          <a:p>
            <a:r>
              <a:rPr lang="en-US" dirty="0"/>
              <a:t>Deposit Channel</a:t>
            </a:r>
          </a:p>
        </p:txBody>
      </p:sp>
    </p:spTree>
    <p:extLst>
      <p:ext uri="{BB962C8B-B14F-4D97-AF65-F5344CB8AC3E}">
        <p14:creationId xmlns:p14="http://schemas.microsoft.com/office/powerpoint/2010/main" val="3385441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1169-7B56-902C-8698-D41027FD2A14}"/>
              </a:ext>
            </a:extLst>
          </p:cNvPr>
          <p:cNvSpPr>
            <a:spLocks noGrp="1"/>
          </p:cNvSpPr>
          <p:nvPr>
            <p:ph type="title"/>
          </p:nvPr>
        </p:nvSpPr>
        <p:spPr/>
        <p:txBody>
          <a:bodyPr/>
          <a:lstStyle/>
          <a:p>
            <a:r>
              <a:rPr lang="en-US" dirty="0" err="1"/>
              <a:t>Dreschsler</a:t>
            </a:r>
            <a:r>
              <a:rPr lang="en-US" dirty="0"/>
              <a:t>, </a:t>
            </a:r>
            <a:r>
              <a:rPr lang="en-US" dirty="0" err="1"/>
              <a:t>Savov</a:t>
            </a:r>
            <a:r>
              <a:rPr lang="en-US" dirty="0"/>
              <a:t> and Schnabl 2016</a:t>
            </a:r>
          </a:p>
        </p:txBody>
      </p:sp>
      <p:sp>
        <p:nvSpPr>
          <p:cNvPr id="3" name="Content Placeholder 2">
            <a:extLst>
              <a:ext uri="{FF2B5EF4-FFF2-40B4-BE49-F238E27FC236}">
                <a16:creationId xmlns:a16="http://schemas.microsoft.com/office/drawing/2014/main" id="{FD7FFE4A-6089-537B-28C2-9CFDC24BB73D}"/>
              </a:ext>
            </a:extLst>
          </p:cNvPr>
          <p:cNvSpPr>
            <a:spLocks noGrp="1"/>
          </p:cNvSpPr>
          <p:nvPr>
            <p:ph idx="1"/>
          </p:nvPr>
        </p:nvSpPr>
        <p:spPr/>
        <p:txBody>
          <a:bodyPr>
            <a:normAutofit/>
          </a:bodyPr>
          <a:lstStyle/>
          <a:p>
            <a:r>
              <a:rPr lang="en-US" dirty="0"/>
              <a:t>Design:</a:t>
            </a:r>
          </a:p>
          <a:p>
            <a:r>
              <a:rPr lang="en-US" dirty="0"/>
              <a:t>Branch-level within-bank panel regression</a:t>
            </a:r>
          </a:p>
          <a:p>
            <a:r>
              <a:rPr lang="en-US" dirty="0"/>
              <a:t>County deposit HHI as market power proxy</a:t>
            </a:r>
          </a:p>
          <a:p>
            <a:endParaRPr lang="en-US" dirty="0"/>
          </a:p>
          <a:p>
            <a:r>
              <a:rPr lang="en-US" dirty="0"/>
              <a:t>Results:</a:t>
            </a:r>
          </a:p>
          <a:p>
            <a:r>
              <a:rPr lang="en-US" dirty="0"/>
              <a:t>Branch: Higher HHI -&gt; Less passthrough -&gt; Higher deposit outflow </a:t>
            </a:r>
          </a:p>
          <a:p>
            <a:r>
              <a:rPr lang="en-US" dirty="0"/>
              <a:t>Bank: Higher deposit-weighted HHI -&gt; lower loan growth rate</a:t>
            </a:r>
          </a:p>
        </p:txBody>
      </p:sp>
    </p:spTree>
    <p:extLst>
      <p:ext uri="{BB962C8B-B14F-4D97-AF65-F5344CB8AC3E}">
        <p14:creationId xmlns:p14="http://schemas.microsoft.com/office/powerpoint/2010/main" val="3039471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62B5-82B2-96F9-7C06-86DCCF8E3F52}"/>
              </a:ext>
            </a:extLst>
          </p:cNvPr>
          <p:cNvSpPr>
            <a:spLocks noGrp="1"/>
          </p:cNvSpPr>
          <p:nvPr>
            <p:ph type="title"/>
          </p:nvPr>
        </p:nvSpPr>
        <p:spPr/>
        <p:txBody>
          <a:bodyPr/>
          <a:lstStyle/>
          <a:p>
            <a:r>
              <a:rPr lang="en-US" dirty="0" err="1"/>
              <a:t>Begenau</a:t>
            </a:r>
            <a:r>
              <a:rPr lang="en-US" dirty="0"/>
              <a:t> &amp; Stafford 2023</a:t>
            </a:r>
          </a:p>
        </p:txBody>
      </p:sp>
      <p:sp>
        <p:nvSpPr>
          <p:cNvPr id="3" name="Content Placeholder 2">
            <a:extLst>
              <a:ext uri="{FF2B5EF4-FFF2-40B4-BE49-F238E27FC236}">
                <a16:creationId xmlns:a16="http://schemas.microsoft.com/office/drawing/2014/main" id="{3F3E16B4-9BA8-7B82-798F-DEF12826D031}"/>
              </a:ext>
            </a:extLst>
          </p:cNvPr>
          <p:cNvSpPr>
            <a:spLocks noGrp="1"/>
          </p:cNvSpPr>
          <p:nvPr>
            <p:ph idx="1"/>
          </p:nvPr>
        </p:nvSpPr>
        <p:spPr/>
        <p:txBody>
          <a:bodyPr/>
          <a:lstStyle/>
          <a:p>
            <a:r>
              <a:rPr lang="en-US" dirty="0"/>
              <a:t>Uniform rate pricing</a:t>
            </a:r>
          </a:p>
          <a:p>
            <a:endParaRPr lang="en-US" dirty="0"/>
          </a:p>
          <a:p>
            <a:r>
              <a:rPr lang="en-US" dirty="0"/>
              <a:t>Sample selection and local demand</a:t>
            </a:r>
          </a:p>
          <a:p>
            <a:endParaRPr lang="en-US" dirty="0"/>
          </a:p>
          <a:p>
            <a:r>
              <a:rPr lang="en-US" dirty="0"/>
              <a:t>Aggregation and substitution</a:t>
            </a:r>
          </a:p>
          <a:p>
            <a:endParaRPr lang="en-US" dirty="0"/>
          </a:p>
          <a:p>
            <a:endParaRPr lang="en-US" dirty="0"/>
          </a:p>
        </p:txBody>
      </p:sp>
    </p:spTree>
    <p:extLst>
      <p:ext uri="{BB962C8B-B14F-4D97-AF65-F5344CB8AC3E}">
        <p14:creationId xmlns:p14="http://schemas.microsoft.com/office/powerpoint/2010/main" val="2768207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81BE-9B16-BF1F-B67D-E5227B73F3BB}"/>
              </a:ext>
            </a:extLst>
          </p:cNvPr>
          <p:cNvSpPr>
            <a:spLocks noGrp="1"/>
          </p:cNvSpPr>
          <p:nvPr>
            <p:ph type="title"/>
          </p:nvPr>
        </p:nvSpPr>
        <p:spPr/>
        <p:txBody>
          <a:bodyPr/>
          <a:lstStyle/>
          <a:p>
            <a:r>
              <a:rPr lang="en-US" dirty="0"/>
              <a:t>My Theoretical critiques</a:t>
            </a:r>
          </a:p>
        </p:txBody>
      </p:sp>
      <p:sp>
        <p:nvSpPr>
          <p:cNvPr id="3" name="Content Placeholder 2">
            <a:extLst>
              <a:ext uri="{FF2B5EF4-FFF2-40B4-BE49-F238E27FC236}">
                <a16:creationId xmlns:a16="http://schemas.microsoft.com/office/drawing/2014/main" id="{7BA596BA-2A13-DC7B-8F79-CA0412069A3D}"/>
              </a:ext>
            </a:extLst>
          </p:cNvPr>
          <p:cNvSpPr>
            <a:spLocks noGrp="1"/>
          </p:cNvSpPr>
          <p:nvPr>
            <p:ph idx="1"/>
          </p:nvPr>
        </p:nvSpPr>
        <p:spPr/>
        <p:txBody>
          <a:bodyPr/>
          <a:lstStyle/>
          <a:p>
            <a:r>
              <a:rPr lang="en-US" dirty="0"/>
              <a:t>Endogenous deposit quantity</a:t>
            </a:r>
          </a:p>
          <a:p>
            <a:endParaRPr lang="en-US" dirty="0"/>
          </a:p>
          <a:p>
            <a:r>
              <a:rPr lang="en-US" dirty="0"/>
              <a:t>Substitutability: an example of brokered CD and MMF</a:t>
            </a:r>
          </a:p>
        </p:txBody>
      </p:sp>
      <p:graphicFrame>
        <p:nvGraphicFramePr>
          <p:cNvPr id="5" name="Table 4">
            <a:extLst>
              <a:ext uri="{FF2B5EF4-FFF2-40B4-BE49-F238E27FC236}">
                <a16:creationId xmlns:a16="http://schemas.microsoft.com/office/drawing/2014/main" id="{E28F962B-107C-EAD2-D9E1-39C2FBB662BC}"/>
              </a:ext>
            </a:extLst>
          </p:cNvPr>
          <p:cNvGraphicFramePr>
            <a:graphicFrameLocks noGrp="1"/>
          </p:cNvGraphicFramePr>
          <p:nvPr>
            <p:extLst>
              <p:ext uri="{D42A27DB-BD31-4B8C-83A1-F6EECF244321}">
                <p14:modId xmlns:p14="http://schemas.microsoft.com/office/powerpoint/2010/main" val="1913788234"/>
              </p:ext>
            </p:extLst>
          </p:nvPr>
        </p:nvGraphicFramePr>
        <p:xfrm>
          <a:off x="1004208" y="3396343"/>
          <a:ext cx="10183584" cy="3453192"/>
        </p:xfrm>
        <a:graphic>
          <a:graphicData uri="http://schemas.openxmlformats.org/drawingml/2006/table">
            <a:tbl>
              <a:tblPr firstRow="1" bandRow="1">
                <a:tableStyleId>{5C22544A-7EE6-4342-B048-85BDC9FD1C3A}</a:tableStyleId>
              </a:tblPr>
              <a:tblGrid>
                <a:gridCol w="1697264">
                  <a:extLst>
                    <a:ext uri="{9D8B030D-6E8A-4147-A177-3AD203B41FA5}">
                      <a16:colId xmlns:a16="http://schemas.microsoft.com/office/drawing/2014/main" val="513235726"/>
                    </a:ext>
                  </a:extLst>
                </a:gridCol>
                <a:gridCol w="1697264">
                  <a:extLst>
                    <a:ext uri="{9D8B030D-6E8A-4147-A177-3AD203B41FA5}">
                      <a16:colId xmlns:a16="http://schemas.microsoft.com/office/drawing/2014/main" val="1783577865"/>
                    </a:ext>
                  </a:extLst>
                </a:gridCol>
                <a:gridCol w="1697264">
                  <a:extLst>
                    <a:ext uri="{9D8B030D-6E8A-4147-A177-3AD203B41FA5}">
                      <a16:colId xmlns:a16="http://schemas.microsoft.com/office/drawing/2014/main" val="4278652814"/>
                    </a:ext>
                  </a:extLst>
                </a:gridCol>
                <a:gridCol w="1697264">
                  <a:extLst>
                    <a:ext uri="{9D8B030D-6E8A-4147-A177-3AD203B41FA5}">
                      <a16:colId xmlns:a16="http://schemas.microsoft.com/office/drawing/2014/main" val="1098748426"/>
                    </a:ext>
                  </a:extLst>
                </a:gridCol>
                <a:gridCol w="1697264">
                  <a:extLst>
                    <a:ext uri="{9D8B030D-6E8A-4147-A177-3AD203B41FA5}">
                      <a16:colId xmlns:a16="http://schemas.microsoft.com/office/drawing/2014/main" val="2068538190"/>
                    </a:ext>
                  </a:extLst>
                </a:gridCol>
                <a:gridCol w="1697264">
                  <a:extLst>
                    <a:ext uri="{9D8B030D-6E8A-4147-A177-3AD203B41FA5}">
                      <a16:colId xmlns:a16="http://schemas.microsoft.com/office/drawing/2014/main" val="2749416347"/>
                    </a:ext>
                  </a:extLst>
                </a:gridCol>
              </a:tblGrid>
              <a:tr h="846264">
                <a:tc gridSpan="2">
                  <a:txBody>
                    <a:bodyPr/>
                    <a:lstStyle/>
                    <a:p>
                      <a:pPr algn="ctr"/>
                      <a:r>
                        <a:rPr lang="en-US" dirty="0"/>
                        <a:t>Bank</a:t>
                      </a:r>
                    </a:p>
                  </a:txBody>
                  <a:tcPr/>
                </a:tc>
                <a:tc hMerge="1">
                  <a:txBody>
                    <a:bodyPr/>
                    <a:lstStyle/>
                    <a:p>
                      <a:endParaRPr lang="en-US" dirty="0"/>
                    </a:p>
                  </a:txBody>
                  <a:tcPr/>
                </a:tc>
                <a:tc gridSpan="2">
                  <a:txBody>
                    <a:bodyPr/>
                    <a:lstStyle/>
                    <a:p>
                      <a:pPr algn="ctr"/>
                      <a:r>
                        <a:rPr lang="en-US" dirty="0"/>
                        <a:t>MMF</a:t>
                      </a:r>
                    </a:p>
                  </a:txBody>
                  <a:tcPr/>
                </a:tc>
                <a:tc hMerge="1">
                  <a:txBody>
                    <a:bodyPr/>
                    <a:lstStyle/>
                    <a:p>
                      <a:endParaRPr lang="en-US" dirty="0"/>
                    </a:p>
                  </a:txBody>
                  <a:tcPr/>
                </a:tc>
                <a:tc gridSpan="2">
                  <a:txBody>
                    <a:bodyPr/>
                    <a:lstStyle/>
                    <a:p>
                      <a:pPr algn="ctr"/>
                      <a:r>
                        <a:rPr lang="en-US" dirty="0"/>
                        <a:t>Wealth Holder</a:t>
                      </a:r>
                    </a:p>
                  </a:txBody>
                  <a:tcPr/>
                </a:tc>
                <a:tc hMerge="1">
                  <a:txBody>
                    <a:bodyPr/>
                    <a:lstStyle/>
                    <a:p>
                      <a:endParaRPr lang="en-US" dirty="0"/>
                    </a:p>
                  </a:txBody>
                  <a:tcPr/>
                </a:tc>
                <a:extLst>
                  <a:ext uri="{0D108BD9-81ED-4DB2-BD59-A6C34878D82A}">
                    <a16:rowId xmlns:a16="http://schemas.microsoft.com/office/drawing/2014/main" val="1963623259"/>
                  </a:ext>
                </a:extLst>
              </a:tr>
              <a:tr h="846264">
                <a:tc>
                  <a:txBody>
                    <a:bodyPr/>
                    <a:lstStyle/>
                    <a:p>
                      <a:endParaRPr lang="en-US" dirty="0"/>
                    </a:p>
                  </a:txBody>
                  <a:tcPr/>
                </a:tc>
                <a:tc>
                  <a:txBody>
                    <a:bodyPr/>
                    <a:lstStyle/>
                    <a:p>
                      <a:pPr marL="285750" indent="-285750">
                        <a:buFontTx/>
                        <a:buChar char="-"/>
                      </a:pPr>
                      <a:r>
                        <a:rPr lang="en-US" dirty="0"/>
                        <a:t>Deposit</a:t>
                      </a:r>
                    </a:p>
                  </a:txBody>
                  <a:tcPr/>
                </a:tc>
                <a:tc>
                  <a:txBody>
                    <a:bodyPr/>
                    <a:lstStyle/>
                    <a:p>
                      <a:endParaRPr lang="en-US" dirty="0"/>
                    </a:p>
                  </a:txBody>
                  <a:tcPr/>
                </a:tc>
                <a:tc>
                  <a:txBody>
                    <a:bodyPr/>
                    <a:lstStyle/>
                    <a:p>
                      <a:endParaRPr lang="en-US" dirty="0"/>
                    </a:p>
                  </a:txBody>
                  <a:tcPr/>
                </a:tc>
                <a:tc>
                  <a:txBody>
                    <a:bodyPr/>
                    <a:lstStyle/>
                    <a:p>
                      <a:pPr marL="285750" indent="-285750">
                        <a:buFontTx/>
                        <a:buChar char="-"/>
                      </a:pPr>
                      <a:r>
                        <a:rPr lang="en-US" dirty="0"/>
                        <a:t>Deposit</a:t>
                      </a:r>
                    </a:p>
                  </a:txBody>
                  <a:tcPr/>
                </a:tc>
                <a:tc>
                  <a:txBody>
                    <a:bodyPr/>
                    <a:lstStyle/>
                    <a:p>
                      <a:endParaRPr lang="en-US" dirty="0"/>
                    </a:p>
                  </a:txBody>
                  <a:tcPr/>
                </a:tc>
                <a:extLst>
                  <a:ext uri="{0D108BD9-81ED-4DB2-BD59-A6C34878D82A}">
                    <a16:rowId xmlns:a16="http://schemas.microsoft.com/office/drawing/2014/main" val="1256145158"/>
                  </a:ext>
                </a:extLst>
              </a:tr>
              <a:tr h="846264">
                <a:tc>
                  <a:txBody>
                    <a:bodyPr/>
                    <a:lstStyle/>
                    <a:p>
                      <a:endParaRPr lang="en-US" dirty="0"/>
                    </a:p>
                  </a:txBody>
                  <a:tcPr/>
                </a:tc>
                <a:tc>
                  <a:txBody>
                    <a:bodyPr/>
                    <a:lstStyle/>
                    <a:p>
                      <a:r>
                        <a:rPr lang="en-US" dirty="0"/>
                        <a:t>+ Brokered CD</a:t>
                      </a:r>
                    </a:p>
                  </a:txBody>
                  <a:tcPr/>
                </a:tc>
                <a:tc>
                  <a:txBody>
                    <a:bodyPr/>
                    <a:lstStyle/>
                    <a:p>
                      <a:endParaRPr lang="en-US" dirty="0"/>
                    </a:p>
                  </a:txBody>
                  <a:tcPr/>
                </a:tc>
                <a:tc>
                  <a:txBody>
                    <a:bodyPr/>
                    <a:lstStyle/>
                    <a:p>
                      <a:endParaRPr lang="en-US" dirty="0"/>
                    </a:p>
                  </a:txBody>
                  <a:tcPr/>
                </a:tc>
                <a:tc>
                  <a:txBody>
                    <a:bodyPr/>
                    <a:lstStyle/>
                    <a:p>
                      <a:r>
                        <a:rPr lang="en-US" dirty="0"/>
                        <a:t>+ Brokered CD</a:t>
                      </a:r>
                    </a:p>
                  </a:txBody>
                  <a:tcPr/>
                </a:tc>
                <a:tc>
                  <a:txBody>
                    <a:bodyPr/>
                    <a:lstStyle/>
                    <a:p>
                      <a:endParaRPr lang="en-US" dirty="0"/>
                    </a:p>
                  </a:txBody>
                  <a:tcPr/>
                </a:tc>
                <a:extLst>
                  <a:ext uri="{0D108BD9-81ED-4DB2-BD59-A6C34878D82A}">
                    <a16:rowId xmlns:a16="http://schemas.microsoft.com/office/drawing/2014/main" val="1322094442"/>
                  </a:ext>
                </a:extLst>
              </a:tr>
              <a:tr h="846264">
                <a:tc>
                  <a:txBody>
                    <a:bodyPr/>
                    <a:lstStyle/>
                    <a:p>
                      <a:endParaRPr lang="en-US"/>
                    </a:p>
                  </a:txBody>
                  <a:tcPr/>
                </a:tc>
                <a:tc>
                  <a:txBody>
                    <a:bodyPr/>
                    <a:lstStyle/>
                    <a:p>
                      <a:r>
                        <a:rPr lang="en-US" dirty="0"/>
                        <a:t>+ Commercial Paper / Large time deposit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Commercial Paper / Large time deposit</a:t>
                      </a:r>
                    </a:p>
                  </a:txBody>
                  <a:tcPr/>
                </a:tc>
                <a:tc>
                  <a:txBody>
                    <a:bodyPr/>
                    <a:lstStyle/>
                    <a:p>
                      <a:r>
                        <a:rPr lang="en-US" dirty="0"/>
                        <a:t>+ MMF shares</a:t>
                      </a:r>
                    </a:p>
                  </a:txBody>
                  <a:tcPr/>
                </a:tc>
                <a:tc>
                  <a:txBody>
                    <a:bodyPr/>
                    <a:lstStyle/>
                    <a:p>
                      <a:r>
                        <a:rPr lang="en-US" dirty="0"/>
                        <a:t>+ MMF shares</a:t>
                      </a:r>
                    </a:p>
                  </a:txBody>
                  <a:tcPr/>
                </a:tc>
                <a:tc>
                  <a:txBody>
                    <a:bodyPr/>
                    <a:lstStyle/>
                    <a:p>
                      <a:endParaRPr lang="en-US" dirty="0"/>
                    </a:p>
                  </a:txBody>
                  <a:tcPr/>
                </a:tc>
                <a:extLst>
                  <a:ext uri="{0D108BD9-81ED-4DB2-BD59-A6C34878D82A}">
                    <a16:rowId xmlns:a16="http://schemas.microsoft.com/office/drawing/2014/main" val="154521560"/>
                  </a:ext>
                </a:extLst>
              </a:tr>
            </a:tbl>
          </a:graphicData>
        </a:graphic>
      </p:graphicFrame>
    </p:spTree>
    <p:extLst>
      <p:ext uri="{BB962C8B-B14F-4D97-AF65-F5344CB8AC3E}">
        <p14:creationId xmlns:p14="http://schemas.microsoft.com/office/powerpoint/2010/main" val="119853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6714-983F-9AF4-F9D7-E786BCE60BB7}"/>
              </a:ext>
            </a:extLst>
          </p:cNvPr>
          <p:cNvSpPr>
            <a:spLocks noGrp="1"/>
          </p:cNvSpPr>
          <p:nvPr>
            <p:ph type="title"/>
          </p:nvPr>
        </p:nvSpPr>
        <p:spPr/>
        <p:txBody>
          <a:bodyPr/>
          <a:lstStyle/>
          <a:p>
            <a:r>
              <a:rPr lang="en-US" dirty="0"/>
              <a:t>My reframed deposit channel</a:t>
            </a:r>
          </a:p>
        </p:txBody>
      </p:sp>
      <p:sp>
        <p:nvSpPr>
          <p:cNvPr id="3" name="Content Placeholder 2">
            <a:extLst>
              <a:ext uri="{FF2B5EF4-FFF2-40B4-BE49-F238E27FC236}">
                <a16:creationId xmlns:a16="http://schemas.microsoft.com/office/drawing/2014/main" id="{9481165F-828A-CF78-041F-F8E4B0445240}"/>
              </a:ext>
            </a:extLst>
          </p:cNvPr>
          <p:cNvSpPr>
            <a:spLocks noGrp="1"/>
          </p:cNvSpPr>
          <p:nvPr>
            <p:ph idx="1"/>
          </p:nvPr>
        </p:nvSpPr>
        <p:spPr/>
        <p:txBody>
          <a:bodyPr/>
          <a:lstStyle/>
          <a:p>
            <a:r>
              <a:rPr lang="en-US" dirty="0"/>
              <a:t>During a rate-hike cycle, banks with different depositor bases and funding models raise deposit rates by different amounts, creating bank-specific shocks to deposit funding costs.</a:t>
            </a:r>
          </a:p>
          <a:p>
            <a:endParaRPr lang="en-US" dirty="0"/>
          </a:p>
          <a:p>
            <a:r>
              <a:rPr lang="en-US" dirty="0"/>
              <a:t>Banks facing larger increases in funding costs restrict loan supply more. When borrowers rely on relationship lenders and cannot easily switch banks, these bank-specific shocks translate into lower credit and weaker demand.</a:t>
            </a:r>
          </a:p>
          <a:p>
            <a:endParaRPr lang="en-US" dirty="0"/>
          </a:p>
          <a:p>
            <a:endParaRPr lang="en-US" dirty="0"/>
          </a:p>
        </p:txBody>
      </p:sp>
    </p:spTree>
    <p:extLst>
      <p:ext uri="{BB962C8B-B14F-4D97-AF65-F5344CB8AC3E}">
        <p14:creationId xmlns:p14="http://schemas.microsoft.com/office/powerpoint/2010/main" val="290506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AABD-B3BB-64FA-E485-F320F447234D}"/>
              </a:ext>
            </a:extLst>
          </p:cNvPr>
          <p:cNvSpPr>
            <a:spLocks noGrp="1"/>
          </p:cNvSpPr>
          <p:nvPr>
            <p:ph type="title"/>
          </p:nvPr>
        </p:nvSpPr>
        <p:spPr/>
        <p:txBody>
          <a:bodyPr/>
          <a:lstStyle/>
          <a:p>
            <a:r>
              <a:rPr lang="en-US" dirty="0"/>
              <a:t>Empirical strategy</a:t>
            </a:r>
          </a:p>
        </p:txBody>
      </p:sp>
      <p:sp>
        <p:nvSpPr>
          <p:cNvPr id="3" name="Content Placeholder 2">
            <a:extLst>
              <a:ext uri="{FF2B5EF4-FFF2-40B4-BE49-F238E27FC236}">
                <a16:creationId xmlns:a16="http://schemas.microsoft.com/office/drawing/2014/main" id="{2F00950F-4A50-04E0-B8CE-B468200E35F0}"/>
              </a:ext>
            </a:extLst>
          </p:cNvPr>
          <p:cNvSpPr>
            <a:spLocks noGrp="1"/>
          </p:cNvSpPr>
          <p:nvPr>
            <p:ph idx="1"/>
          </p:nvPr>
        </p:nvSpPr>
        <p:spPr/>
        <p:txBody>
          <a:bodyPr/>
          <a:lstStyle/>
          <a:p>
            <a:r>
              <a:rPr lang="en-US" dirty="0"/>
              <a:t>A 2-stage least square setup</a:t>
            </a:r>
          </a:p>
          <a:p>
            <a:r>
              <a:rPr lang="en-US" dirty="0"/>
              <a:t>Use the 2022–23 rate-hike cycle as a common policy shock to all banks.</a:t>
            </a:r>
          </a:p>
          <a:p>
            <a:r>
              <a:rPr lang="en-US" dirty="0"/>
              <a:t>Exploit pre-2021 bank characteristics to create different effective shocks to deposit funding conditions.</a:t>
            </a:r>
          </a:p>
          <a:p>
            <a:r>
              <a:rPr lang="en-US" dirty="0"/>
              <a:t>Step 1: show that these characteristics predict how much each bank’s deposit rates and deposits quantity move during the cycle.</a:t>
            </a:r>
          </a:p>
          <a:p>
            <a:r>
              <a:rPr lang="en-US" dirty="0"/>
              <a:t>Step 2: use the predicted changes in funding conditions to estimate how loan growth responds.</a:t>
            </a:r>
          </a:p>
        </p:txBody>
      </p:sp>
    </p:spTree>
    <p:extLst>
      <p:ext uri="{BB962C8B-B14F-4D97-AF65-F5344CB8AC3E}">
        <p14:creationId xmlns:p14="http://schemas.microsoft.com/office/powerpoint/2010/main" val="3766831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ADC61-2E04-BF12-C754-19C2259F0605}"/>
              </a:ext>
            </a:extLst>
          </p:cNvPr>
          <p:cNvSpPr>
            <a:spLocks noGrp="1"/>
          </p:cNvSpPr>
          <p:nvPr>
            <p:ph type="title"/>
          </p:nvPr>
        </p:nvSpPr>
        <p:spPr/>
        <p:txBody>
          <a:bodyPr/>
          <a:lstStyle/>
          <a:p>
            <a:r>
              <a:rPr lang="en-US" dirty="0"/>
              <a:t>Data and Sample</a:t>
            </a:r>
          </a:p>
        </p:txBody>
      </p:sp>
      <p:sp>
        <p:nvSpPr>
          <p:cNvPr id="3" name="Content Placeholder 2">
            <a:extLst>
              <a:ext uri="{FF2B5EF4-FFF2-40B4-BE49-F238E27FC236}">
                <a16:creationId xmlns:a16="http://schemas.microsoft.com/office/drawing/2014/main" id="{69BC9DD4-AB64-0FB6-4593-21571273824D}"/>
              </a:ext>
            </a:extLst>
          </p:cNvPr>
          <p:cNvSpPr>
            <a:spLocks noGrp="1"/>
          </p:cNvSpPr>
          <p:nvPr>
            <p:ph idx="1"/>
          </p:nvPr>
        </p:nvSpPr>
        <p:spPr/>
        <p:txBody>
          <a:bodyPr/>
          <a:lstStyle/>
          <a:p>
            <a:r>
              <a:rPr lang="en-US" dirty="0"/>
              <a:t>Quarterly panel of U.S. commercial banks, 2021Q4–2023Q3</a:t>
            </a:r>
          </a:p>
          <a:p>
            <a:endParaRPr lang="en-US" dirty="0"/>
          </a:p>
          <a:p>
            <a:r>
              <a:rPr lang="en-US" dirty="0"/>
              <a:t>~3,800 banks, mostly small and community banks</a:t>
            </a:r>
          </a:p>
          <a:p>
            <a:endParaRPr lang="en-US" dirty="0"/>
          </a:p>
          <a:p>
            <a:r>
              <a:rPr lang="en-US" dirty="0"/>
              <a:t>Sources: Call Reports, FDIC Summary of Deposits, county data (Census/IRS/FCC/HMDA)</a:t>
            </a:r>
          </a:p>
        </p:txBody>
      </p:sp>
    </p:spTree>
    <p:extLst>
      <p:ext uri="{BB962C8B-B14F-4D97-AF65-F5344CB8AC3E}">
        <p14:creationId xmlns:p14="http://schemas.microsoft.com/office/powerpoint/2010/main" val="637623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2CC0-E06C-69A2-2E77-F3698D8274FC}"/>
              </a:ext>
            </a:extLst>
          </p:cNvPr>
          <p:cNvSpPr>
            <a:spLocks noGrp="1"/>
          </p:cNvSpPr>
          <p:nvPr>
            <p:ph type="title"/>
          </p:nvPr>
        </p:nvSpPr>
        <p:spPr/>
        <p:txBody>
          <a:bodyPr/>
          <a:lstStyle/>
          <a:p>
            <a:r>
              <a:rPr lang="en-US" dirty="0"/>
              <a:t>Key bank-level outcomes</a:t>
            </a:r>
          </a:p>
        </p:txBody>
      </p:sp>
      <p:sp>
        <p:nvSpPr>
          <p:cNvPr id="3" name="Content Placeholder 2">
            <a:extLst>
              <a:ext uri="{FF2B5EF4-FFF2-40B4-BE49-F238E27FC236}">
                <a16:creationId xmlns:a16="http://schemas.microsoft.com/office/drawing/2014/main" id="{E3455958-6C4C-05A5-E5DC-DB6BC1DA2739}"/>
              </a:ext>
            </a:extLst>
          </p:cNvPr>
          <p:cNvSpPr>
            <a:spLocks noGrp="1"/>
          </p:cNvSpPr>
          <p:nvPr>
            <p:ph idx="1"/>
          </p:nvPr>
        </p:nvSpPr>
        <p:spPr/>
        <p:txBody>
          <a:bodyPr/>
          <a:lstStyle/>
          <a:p>
            <a:r>
              <a:rPr lang="en-US" dirty="0"/>
              <a:t>Effective deposit rate = interest expense / domestic deposits</a:t>
            </a:r>
          </a:p>
          <a:p>
            <a:endParaRPr lang="en-US" dirty="0"/>
          </a:p>
          <a:p>
            <a:r>
              <a:rPr lang="en-US" dirty="0"/>
              <a:t>Deposit quantities = growth of total, interest-bearing, and core deposits</a:t>
            </a:r>
          </a:p>
          <a:p>
            <a:endParaRPr lang="en-US" dirty="0"/>
          </a:p>
          <a:p>
            <a:r>
              <a:rPr lang="en-US" dirty="0"/>
              <a:t>Loan outcome = growth of loans not held for sale, single/multifamily mortgage, and C&amp;I loans</a:t>
            </a:r>
          </a:p>
        </p:txBody>
      </p:sp>
    </p:spTree>
    <p:extLst>
      <p:ext uri="{BB962C8B-B14F-4D97-AF65-F5344CB8AC3E}">
        <p14:creationId xmlns:p14="http://schemas.microsoft.com/office/powerpoint/2010/main" val="1679901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1AC6C-E94D-B58F-4286-EA48DA200BD1}"/>
              </a:ext>
            </a:extLst>
          </p:cNvPr>
          <p:cNvSpPr>
            <a:spLocks noGrp="1"/>
          </p:cNvSpPr>
          <p:nvPr>
            <p:ph type="title"/>
          </p:nvPr>
        </p:nvSpPr>
        <p:spPr/>
        <p:txBody>
          <a:bodyPr/>
          <a:lstStyle/>
          <a:p>
            <a:r>
              <a:rPr lang="en-US" dirty="0"/>
              <a:t>Pre-tightening exposure measures</a:t>
            </a:r>
          </a:p>
        </p:txBody>
      </p:sp>
      <p:sp>
        <p:nvSpPr>
          <p:cNvPr id="3" name="Content Placeholder 2">
            <a:extLst>
              <a:ext uri="{FF2B5EF4-FFF2-40B4-BE49-F238E27FC236}">
                <a16:creationId xmlns:a16="http://schemas.microsoft.com/office/drawing/2014/main" id="{1471FB51-B395-4D4C-98CE-AFB52E41349E}"/>
              </a:ext>
            </a:extLst>
          </p:cNvPr>
          <p:cNvSpPr>
            <a:spLocks noGrp="1"/>
          </p:cNvSpPr>
          <p:nvPr>
            <p:ph idx="1"/>
          </p:nvPr>
        </p:nvSpPr>
        <p:spPr/>
        <p:txBody>
          <a:bodyPr/>
          <a:lstStyle/>
          <a:p>
            <a:r>
              <a:rPr lang="en-US" dirty="0"/>
              <a:t>All built from 2019–2021 data (before the hiking cycle)</a:t>
            </a:r>
          </a:p>
          <a:p>
            <a:endParaRPr lang="en-US" dirty="0"/>
          </a:p>
          <a:p>
            <a:r>
              <a:rPr lang="en-US" dirty="0"/>
              <a:t>Depositor sophistication index (income, education, age, internet, financial activity, refi)</a:t>
            </a:r>
          </a:p>
          <a:p>
            <a:endParaRPr lang="en-US" dirty="0"/>
          </a:p>
          <a:p>
            <a:r>
              <a:rPr lang="en-US" dirty="0"/>
              <a:t>Branch intensity (branches per $1bn domestic deposits)</a:t>
            </a:r>
          </a:p>
          <a:p>
            <a:endParaRPr lang="en-US" dirty="0"/>
          </a:p>
          <a:p>
            <a:r>
              <a:rPr lang="en-US" dirty="0"/>
              <a:t>HHI exposure (deposit-weighted average county concentration)</a:t>
            </a:r>
          </a:p>
        </p:txBody>
      </p:sp>
    </p:spTree>
    <p:extLst>
      <p:ext uri="{BB962C8B-B14F-4D97-AF65-F5344CB8AC3E}">
        <p14:creationId xmlns:p14="http://schemas.microsoft.com/office/powerpoint/2010/main" val="529149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5C89-FC00-5BA7-0E22-3E49CA3AD931}"/>
              </a:ext>
            </a:extLst>
          </p:cNvPr>
          <p:cNvSpPr>
            <a:spLocks noGrp="1"/>
          </p:cNvSpPr>
          <p:nvPr>
            <p:ph type="title"/>
          </p:nvPr>
        </p:nvSpPr>
        <p:spPr/>
        <p:txBody>
          <a:bodyPr/>
          <a:lstStyle/>
          <a:p>
            <a:r>
              <a:rPr lang="en-US" dirty="0"/>
              <a:t>Policy shock and “predicted funding shocks”</a:t>
            </a:r>
          </a:p>
        </p:txBody>
      </p:sp>
      <p:sp>
        <p:nvSpPr>
          <p:cNvPr id="3" name="Content Placeholder 2">
            <a:extLst>
              <a:ext uri="{FF2B5EF4-FFF2-40B4-BE49-F238E27FC236}">
                <a16:creationId xmlns:a16="http://schemas.microsoft.com/office/drawing/2014/main" id="{D8073D87-06FD-BFE6-45A1-053A4BFE70EA}"/>
              </a:ext>
            </a:extLst>
          </p:cNvPr>
          <p:cNvSpPr>
            <a:spLocks noGrp="1"/>
          </p:cNvSpPr>
          <p:nvPr>
            <p:ph idx="1"/>
          </p:nvPr>
        </p:nvSpPr>
        <p:spPr/>
        <p:txBody>
          <a:bodyPr/>
          <a:lstStyle/>
          <a:p>
            <a:r>
              <a:rPr lang="en-US" dirty="0"/>
              <a:t>Policy shock: cumulative change in the federal funds rate since 2021Q4</a:t>
            </a:r>
          </a:p>
          <a:p>
            <a:endParaRPr lang="en-US" dirty="0"/>
          </a:p>
          <a:p>
            <a:r>
              <a:rPr lang="en-US" dirty="0"/>
              <a:t>For each bank: exposure measures × cumulative shock → predicted change in</a:t>
            </a:r>
          </a:p>
          <a:p>
            <a:pPr lvl="1"/>
            <a:r>
              <a:rPr lang="en-US" dirty="0"/>
              <a:t>effective deposit rates</a:t>
            </a:r>
          </a:p>
          <a:p>
            <a:pPr lvl="1"/>
            <a:r>
              <a:rPr lang="en-US" dirty="0"/>
              <a:t>deposit growth</a:t>
            </a:r>
          </a:p>
          <a:p>
            <a:pPr marL="457200" lvl="1" indent="0">
              <a:buNone/>
            </a:pPr>
            <a:endParaRPr lang="en-US" dirty="0"/>
          </a:p>
          <a:p>
            <a:r>
              <a:rPr lang="en-US" dirty="0"/>
              <a:t>These predicted changes are the funding shocks used in Step 2</a:t>
            </a:r>
          </a:p>
        </p:txBody>
      </p:sp>
    </p:spTree>
    <p:extLst>
      <p:ext uri="{BB962C8B-B14F-4D97-AF65-F5344CB8AC3E}">
        <p14:creationId xmlns:p14="http://schemas.microsoft.com/office/powerpoint/2010/main" val="2645985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97A22-E123-0927-E306-B9EE8E2DBB63}"/>
              </a:ext>
            </a:extLst>
          </p:cNvPr>
          <p:cNvSpPr>
            <a:spLocks noGrp="1"/>
          </p:cNvSpPr>
          <p:nvPr>
            <p:ph type="title"/>
          </p:nvPr>
        </p:nvSpPr>
        <p:spPr/>
        <p:txBody>
          <a:bodyPr/>
          <a:lstStyle/>
          <a:p>
            <a:r>
              <a:rPr lang="en-US" dirty="0"/>
              <a:t>Regressions</a:t>
            </a:r>
          </a:p>
        </p:txBody>
      </p:sp>
      <p:sp>
        <p:nvSpPr>
          <p:cNvPr id="3" name="Content Placeholder 2">
            <a:extLst>
              <a:ext uri="{FF2B5EF4-FFF2-40B4-BE49-F238E27FC236}">
                <a16:creationId xmlns:a16="http://schemas.microsoft.com/office/drawing/2014/main" id="{0AC0D54C-0880-6CA9-F0EA-DC8055A24561}"/>
              </a:ext>
            </a:extLst>
          </p:cNvPr>
          <p:cNvSpPr>
            <a:spLocks noGrp="1"/>
          </p:cNvSpPr>
          <p:nvPr>
            <p:ph idx="1"/>
          </p:nvPr>
        </p:nvSpPr>
        <p:spPr/>
        <p:txBody>
          <a:bodyPr/>
          <a:lstStyle/>
          <a:p>
            <a:r>
              <a:rPr lang="en-US" dirty="0"/>
              <a:t>First-stage</a:t>
            </a:r>
          </a:p>
          <a:p>
            <a:endParaRPr lang="en-US" dirty="0"/>
          </a:p>
          <a:p>
            <a:endParaRPr lang="en-US" dirty="0"/>
          </a:p>
          <a:p>
            <a:endParaRPr lang="en-US" dirty="0"/>
          </a:p>
          <a:p>
            <a:endParaRPr lang="en-US" dirty="0"/>
          </a:p>
          <a:p>
            <a:r>
              <a:rPr lang="en-US" dirty="0"/>
              <a:t>Second-stage</a:t>
            </a:r>
          </a:p>
        </p:txBody>
      </p:sp>
      <p:pic>
        <p:nvPicPr>
          <p:cNvPr id="5" name="Picture 4">
            <a:extLst>
              <a:ext uri="{FF2B5EF4-FFF2-40B4-BE49-F238E27FC236}">
                <a16:creationId xmlns:a16="http://schemas.microsoft.com/office/drawing/2014/main" id="{558FB578-7092-675E-B306-D7AA1C215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461" y="2379012"/>
            <a:ext cx="11683078" cy="855579"/>
          </a:xfrm>
          <a:prstGeom prst="rect">
            <a:avLst/>
          </a:prstGeom>
        </p:spPr>
      </p:pic>
      <p:pic>
        <p:nvPicPr>
          <p:cNvPr id="7" name="Picture 6">
            <a:extLst>
              <a:ext uri="{FF2B5EF4-FFF2-40B4-BE49-F238E27FC236}">
                <a16:creationId xmlns:a16="http://schemas.microsoft.com/office/drawing/2014/main" id="{EF995B72-24F4-A53E-80BF-0BF06F1185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00" y="3302017"/>
            <a:ext cx="11353800" cy="971921"/>
          </a:xfrm>
          <a:prstGeom prst="rect">
            <a:avLst/>
          </a:prstGeom>
        </p:spPr>
      </p:pic>
      <p:pic>
        <p:nvPicPr>
          <p:cNvPr id="9" name="Picture 8">
            <a:extLst>
              <a:ext uri="{FF2B5EF4-FFF2-40B4-BE49-F238E27FC236}">
                <a16:creationId xmlns:a16="http://schemas.microsoft.com/office/drawing/2014/main" id="{F7EAE091-46CA-1D93-31E5-869E5CFB4C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36791" y="4929720"/>
            <a:ext cx="8118418" cy="908489"/>
          </a:xfrm>
          <a:prstGeom prst="rect">
            <a:avLst/>
          </a:prstGeom>
        </p:spPr>
      </p:pic>
    </p:spTree>
    <p:extLst>
      <p:ext uri="{BB962C8B-B14F-4D97-AF65-F5344CB8AC3E}">
        <p14:creationId xmlns:p14="http://schemas.microsoft.com/office/powerpoint/2010/main" val="2546433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B70D2-B2F0-1C35-0EED-624790C2491A}"/>
              </a:ext>
            </a:extLst>
          </p:cNvPr>
          <p:cNvSpPr>
            <a:spLocks noGrp="1"/>
          </p:cNvSpPr>
          <p:nvPr>
            <p:ph type="title"/>
          </p:nvPr>
        </p:nvSpPr>
        <p:spPr/>
        <p:txBody>
          <a:bodyPr/>
          <a:lstStyle/>
          <a:p>
            <a:r>
              <a:rPr lang="en-US" dirty="0"/>
              <a:t>Imperfect Passthrough</a:t>
            </a:r>
          </a:p>
        </p:txBody>
      </p:sp>
      <p:pic>
        <p:nvPicPr>
          <p:cNvPr id="5" name="Content Placeholder 4" descr="A graph of a graph of a graph&#10;&#10;AI-generated content may be incorrect.">
            <a:extLst>
              <a:ext uri="{FF2B5EF4-FFF2-40B4-BE49-F238E27FC236}">
                <a16:creationId xmlns:a16="http://schemas.microsoft.com/office/drawing/2014/main" id="{D5AE5E9C-A92E-5FF5-A7C8-B57924D3D4F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3432" y="2123508"/>
            <a:ext cx="10885136" cy="3887548"/>
          </a:xfrm>
        </p:spPr>
      </p:pic>
    </p:spTree>
    <p:extLst>
      <p:ext uri="{BB962C8B-B14F-4D97-AF65-F5344CB8AC3E}">
        <p14:creationId xmlns:p14="http://schemas.microsoft.com/office/powerpoint/2010/main" val="3520585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06A3B-73CD-A265-D498-8693F263A4F1}"/>
              </a:ext>
            </a:extLst>
          </p:cNvPr>
          <p:cNvSpPr>
            <a:spLocks noGrp="1"/>
          </p:cNvSpPr>
          <p:nvPr>
            <p:ph type="title"/>
          </p:nvPr>
        </p:nvSpPr>
        <p:spPr/>
        <p:txBody>
          <a:bodyPr/>
          <a:lstStyle/>
          <a:p>
            <a:r>
              <a:rPr lang="en-US" dirty="0"/>
              <a:t>First-stage results</a:t>
            </a:r>
          </a:p>
        </p:txBody>
      </p:sp>
      <p:pic>
        <p:nvPicPr>
          <p:cNvPr id="5" name="Content Placeholder 4" descr="A table with numbers and symbols&#10;&#10;AI-generated content may be incorrect.">
            <a:extLst>
              <a:ext uri="{FF2B5EF4-FFF2-40B4-BE49-F238E27FC236}">
                <a16:creationId xmlns:a16="http://schemas.microsoft.com/office/drawing/2014/main" id="{EEFF6A8C-DB9F-CE8C-32E1-BED9E00DC7A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21452" y="1690688"/>
            <a:ext cx="6674543" cy="4252912"/>
          </a:xfrm>
        </p:spPr>
      </p:pic>
    </p:spTree>
    <p:extLst>
      <p:ext uri="{BB962C8B-B14F-4D97-AF65-F5344CB8AC3E}">
        <p14:creationId xmlns:p14="http://schemas.microsoft.com/office/powerpoint/2010/main" val="3911825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54444-4DEB-AC58-7786-E2609A55F4BB}"/>
              </a:ext>
            </a:extLst>
          </p:cNvPr>
          <p:cNvSpPr>
            <a:spLocks noGrp="1"/>
          </p:cNvSpPr>
          <p:nvPr>
            <p:ph type="title"/>
          </p:nvPr>
        </p:nvSpPr>
        <p:spPr/>
        <p:txBody>
          <a:bodyPr/>
          <a:lstStyle/>
          <a:p>
            <a:r>
              <a:rPr lang="en-US" dirty="0"/>
              <a:t>Second-stage results</a:t>
            </a:r>
          </a:p>
        </p:txBody>
      </p:sp>
      <p:pic>
        <p:nvPicPr>
          <p:cNvPr id="5" name="Content Placeholder 4" descr="A table with numbers and text&#10;&#10;AI-generated content may be incorrect.">
            <a:extLst>
              <a:ext uri="{FF2B5EF4-FFF2-40B4-BE49-F238E27FC236}">
                <a16:creationId xmlns:a16="http://schemas.microsoft.com/office/drawing/2014/main" id="{560C6651-9434-E556-8274-3254E2319C0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64055" y="1991333"/>
            <a:ext cx="7047325" cy="3811589"/>
          </a:xfrm>
        </p:spPr>
      </p:pic>
    </p:spTree>
    <p:extLst>
      <p:ext uri="{BB962C8B-B14F-4D97-AF65-F5344CB8AC3E}">
        <p14:creationId xmlns:p14="http://schemas.microsoft.com/office/powerpoint/2010/main" val="792265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76D09-D619-D5C1-9C63-BCF767632C39}"/>
              </a:ext>
            </a:extLst>
          </p:cNvPr>
          <p:cNvSpPr>
            <a:spLocks noGrp="1"/>
          </p:cNvSpPr>
          <p:nvPr>
            <p:ph type="title"/>
          </p:nvPr>
        </p:nvSpPr>
        <p:spPr/>
        <p:txBody>
          <a:bodyPr/>
          <a:lstStyle/>
          <a:p>
            <a:r>
              <a:rPr lang="en-US" dirty="0"/>
              <a:t>Discussion - Summary</a:t>
            </a:r>
          </a:p>
        </p:txBody>
      </p:sp>
      <p:sp>
        <p:nvSpPr>
          <p:cNvPr id="3" name="Content Placeholder 2">
            <a:extLst>
              <a:ext uri="{FF2B5EF4-FFF2-40B4-BE49-F238E27FC236}">
                <a16:creationId xmlns:a16="http://schemas.microsoft.com/office/drawing/2014/main" id="{915CFC7B-CEF2-979B-3683-200C0638EFE7}"/>
              </a:ext>
            </a:extLst>
          </p:cNvPr>
          <p:cNvSpPr>
            <a:spLocks noGrp="1"/>
          </p:cNvSpPr>
          <p:nvPr>
            <p:ph idx="1"/>
          </p:nvPr>
        </p:nvSpPr>
        <p:spPr/>
        <p:txBody>
          <a:bodyPr>
            <a:normAutofit fontScale="92500" lnSpcReduction="10000"/>
          </a:bodyPr>
          <a:lstStyle/>
          <a:p>
            <a:r>
              <a:rPr lang="en-US" dirty="0"/>
              <a:t>Strong evidence on pricing margin</a:t>
            </a:r>
          </a:p>
          <a:p>
            <a:endParaRPr lang="en-US" dirty="0"/>
          </a:p>
          <a:p>
            <a:r>
              <a:rPr lang="en-US" dirty="0"/>
              <a:t>Weak and messy evidence on quantity margin</a:t>
            </a:r>
          </a:p>
          <a:p>
            <a:endParaRPr lang="en-US" dirty="0"/>
          </a:p>
          <a:p>
            <a:r>
              <a:rPr lang="en-US" dirty="0"/>
              <a:t>Clear funding-cost channel</a:t>
            </a:r>
          </a:p>
          <a:p>
            <a:endParaRPr lang="en-US" dirty="0"/>
          </a:p>
          <a:p>
            <a:r>
              <a:rPr lang="en-US" dirty="0"/>
              <a:t>No robust deposit-outflow channel</a:t>
            </a:r>
          </a:p>
          <a:p>
            <a:endParaRPr lang="en-US" dirty="0"/>
          </a:p>
          <a:p>
            <a:r>
              <a:rPr lang="en-US" dirty="0"/>
              <a:t>Depositor characteristics and funding model matter more than simple HHI</a:t>
            </a:r>
          </a:p>
        </p:txBody>
      </p:sp>
    </p:spTree>
    <p:extLst>
      <p:ext uri="{BB962C8B-B14F-4D97-AF65-F5344CB8AC3E}">
        <p14:creationId xmlns:p14="http://schemas.microsoft.com/office/powerpoint/2010/main" val="1067604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0780C-94E0-44B0-8EF7-B4CCFE534503}"/>
              </a:ext>
            </a:extLst>
          </p:cNvPr>
          <p:cNvSpPr>
            <a:spLocks noGrp="1"/>
          </p:cNvSpPr>
          <p:nvPr>
            <p:ph type="title"/>
          </p:nvPr>
        </p:nvSpPr>
        <p:spPr/>
        <p:txBody>
          <a:bodyPr/>
          <a:lstStyle/>
          <a:p>
            <a:r>
              <a:rPr lang="en-US" altLang="zh-CN" dirty="0"/>
              <a:t>Discussion – Suggestive Micro mechanism</a:t>
            </a:r>
            <a:endParaRPr lang="en-US" dirty="0"/>
          </a:p>
        </p:txBody>
      </p:sp>
      <p:sp>
        <p:nvSpPr>
          <p:cNvPr id="3" name="Content Placeholder 2">
            <a:extLst>
              <a:ext uri="{FF2B5EF4-FFF2-40B4-BE49-F238E27FC236}">
                <a16:creationId xmlns:a16="http://schemas.microsoft.com/office/drawing/2014/main" id="{0ADD2F80-FD5E-BD26-30B9-F0AF296B935A}"/>
              </a:ext>
            </a:extLst>
          </p:cNvPr>
          <p:cNvSpPr>
            <a:spLocks noGrp="1"/>
          </p:cNvSpPr>
          <p:nvPr>
            <p:ph idx="1"/>
          </p:nvPr>
        </p:nvSpPr>
        <p:spPr/>
        <p:txBody>
          <a:bodyPr/>
          <a:lstStyle/>
          <a:p>
            <a:r>
              <a:rPr lang="en-US" dirty="0"/>
              <a:t>1) Loan pricing might be competitive, and banks cannot passthrough idiosyncratic funding shock to loan rates.</a:t>
            </a:r>
          </a:p>
          <a:p>
            <a:endParaRPr lang="en-US" dirty="0"/>
          </a:p>
          <a:p>
            <a:r>
              <a:rPr lang="en-US" dirty="0"/>
              <a:t>2) Stiglitz-style adverse selection. </a:t>
            </a:r>
          </a:p>
          <a:p>
            <a:endParaRPr lang="en-US" dirty="0"/>
          </a:p>
          <a:p>
            <a:r>
              <a:rPr lang="en-US" dirty="0"/>
              <a:t>3) Narrower interest margin and capital constraint. </a:t>
            </a:r>
          </a:p>
          <a:p>
            <a:endParaRPr lang="en-US" dirty="0"/>
          </a:p>
          <a:p>
            <a:r>
              <a:rPr lang="en-US" dirty="0"/>
              <a:t>4) Not deposit irreplaceability</a:t>
            </a:r>
          </a:p>
          <a:p>
            <a:endParaRPr lang="en-US" dirty="0"/>
          </a:p>
        </p:txBody>
      </p:sp>
    </p:spTree>
    <p:extLst>
      <p:ext uri="{BB962C8B-B14F-4D97-AF65-F5344CB8AC3E}">
        <p14:creationId xmlns:p14="http://schemas.microsoft.com/office/powerpoint/2010/main" val="3724099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D9339-5340-7415-A895-7FFD760198F2}"/>
              </a:ext>
            </a:extLst>
          </p:cNvPr>
          <p:cNvSpPr>
            <a:spLocks noGrp="1"/>
          </p:cNvSpPr>
          <p:nvPr>
            <p:ph type="title"/>
          </p:nvPr>
        </p:nvSpPr>
        <p:spPr/>
        <p:txBody>
          <a:bodyPr/>
          <a:lstStyle/>
          <a:p>
            <a:r>
              <a:rPr lang="en-US" dirty="0"/>
              <a:t>Discussion – Policy Implications</a:t>
            </a:r>
          </a:p>
        </p:txBody>
      </p:sp>
      <p:sp>
        <p:nvSpPr>
          <p:cNvPr id="3" name="Content Placeholder 2">
            <a:extLst>
              <a:ext uri="{FF2B5EF4-FFF2-40B4-BE49-F238E27FC236}">
                <a16:creationId xmlns:a16="http://schemas.microsoft.com/office/drawing/2014/main" id="{D847A773-BED6-FD92-0F30-E2130CC968A3}"/>
              </a:ext>
            </a:extLst>
          </p:cNvPr>
          <p:cNvSpPr>
            <a:spLocks noGrp="1"/>
          </p:cNvSpPr>
          <p:nvPr>
            <p:ph idx="1"/>
          </p:nvPr>
        </p:nvSpPr>
        <p:spPr/>
        <p:txBody>
          <a:bodyPr>
            <a:normAutofit fontScale="92500"/>
          </a:bodyPr>
          <a:lstStyle/>
          <a:p>
            <a:r>
              <a:rPr lang="en-US" dirty="0"/>
              <a:t>Monetary policy can affect credit supply, not just credit demand, through banks’ deposit funding costs.</a:t>
            </a:r>
          </a:p>
          <a:p>
            <a:endParaRPr lang="en-US" dirty="0"/>
          </a:p>
          <a:p>
            <a:r>
              <a:rPr lang="en-US" dirty="0"/>
              <a:t>Rapid hiking cycles may generate unintended credit-supply shocks if some banks face much larger funding-cost increases than others.</a:t>
            </a:r>
          </a:p>
          <a:p>
            <a:endParaRPr lang="en-US" dirty="0"/>
          </a:p>
          <a:p>
            <a:r>
              <a:rPr lang="en-US" dirty="0"/>
              <a:t>These funding shocks are likely unevenly distributed, hitting borrowers who rely on relationship lenders – small firms and more marginal groups – harder than borrowers who can easily switch banks.</a:t>
            </a:r>
          </a:p>
        </p:txBody>
      </p:sp>
    </p:spTree>
    <p:extLst>
      <p:ext uri="{BB962C8B-B14F-4D97-AF65-F5344CB8AC3E}">
        <p14:creationId xmlns:p14="http://schemas.microsoft.com/office/powerpoint/2010/main" val="502381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C51E-2A1D-C5ED-083B-FB85B08829A6}"/>
              </a:ext>
            </a:extLst>
          </p:cNvPr>
          <p:cNvSpPr>
            <a:spLocks noGrp="1"/>
          </p:cNvSpPr>
          <p:nvPr>
            <p:ph type="title"/>
          </p:nvPr>
        </p:nvSpPr>
        <p:spPr/>
        <p:txBody>
          <a:bodyPr/>
          <a:lstStyle/>
          <a:p>
            <a:r>
              <a:rPr lang="en-US" dirty="0"/>
              <a:t>Contributions</a:t>
            </a:r>
          </a:p>
        </p:txBody>
      </p:sp>
      <p:sp>
        <p:nvSpPr>
          <p:cNvPr id="3" name="Content Placeholder 2">
            <a:extLst>
              <a:ext uri="{FF2B5EF4-FFF2-40B4-BE49-F238E27FC236}">
                <a16:creationId xmlns:a16="http://schemas.microsoft.com/office/drawing/2014/main" id="{36C3B102-90BE-2E47-2178-AE150DD802E6}"/>
              </a:ext>
            </a:extLst>
          </p:cNvPr>
          <p:cNvSpPr>
            <a:spLocks noGrp="1"/>
          </p:cNvSpPr>
          <p:nvPr>
            <p:ph idx="1"/>
          </p:nvPr>
        </p:nvSpPr>
        <p:spPr/>
        <p:txBody>
          <a:bodyPr>
            <a:normAutofit lnSpcReduction="10000"/>
          </a:bodyPr>
          <a:lstStyle/>
          <a:p>
            <a:r>
              <a:rPr lang="en-US" dirty="0"/>
              <a:t>Contribution:</a:t>
            </a:r>
          </a:p>
          <a:p>
            <a:r>
              <a:rPr lang="en-US" dirty="0"/>
              <a:t>Provide bank-level, reduced-form evidence on a credit-supply channel of monetary policy operating through deposit funding costs.</a:t>
            </a:r>
          </a:p>
          <a:p>
            <a:r>
              <a:rPr lang="en-US" dirty="0"/>
              <a:t>Critique the traditional, HHI-based deposit quantity channel and reframe it as a deposit price channel, where depositor characteristics and funding models matter more than concentration.</a:t>
            </a:r>
          </a:p>
          <a:p>
            <a:r>
              <a:rPr lang="en-US" dirty="0"/>
              <a:t>Introduce new exposure measures – including a PCA-based depositor sophistication index using refinancing </a:t>
            </a:r>
            <a:r>
              <a:rPr lang="en-US" dirty="0" err="1"/>
              <a:t>behaviour</a:t>
            </a:r>
            <a:r>
              <a:rPr lang="en-US" dirty="0"/>
              <a:t> – and a bank-level shift–share design for the 2022–23 hiking cycle.</a:t>
            </a:r>
          </a:p>
        </p:txBody>
      </p:sp>
    </p:spTree>
    <p:extLst>
      <p:ext uri="{BB962C8B-B14F-4D97-AF65-F5344CB8AC3E}">
        <p14:creationId xmlns:p14="http://schemas.microsoft.com/office/powerpoint/2010/main" val="3919626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AA774-1F84-40E2-1985-C74089ED5291}"/>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0A8608C4-D11D-5EAD-0088-DD9260869F47}"/>
              </a:ext>
            </a:extLst>
          </p:cNvPr>
          <p:cNvSpPr>
            <a:spLocks noGrp="1"/>
          </p:cNvSpPr>
          <p:nvPr>
            <p:ph idx="1"/>
          </p:nvPr>
        </p:nvSpPr>
        <p:spPr/>
        <p:txBody>
          <a:bodyPr/>
          <a:lstStyle/>
          <a:p>
            <a:r>
              <a:rPr lang="en-US" dirty="0"/>
              <a:t>Do not pin down a unique micro mechanism behind the funding-cost effect.</a:t>
            </a:r>
          </a:p>
          <a:p>
            <a:endParaRPr lang="en-US" dirty="0"/>
          </a:p>
          <a:p>
            <a:r>
              <a:rPr lang="en-US" dirty="0"/>
              <a:t>Do not quantify the full macro policy impact on output or employment.</a:t>
            </a:r>
          </a:p>
          <a:p>
            <a:endParaRPr lang="en-US" dirty="0"/>
          </a:p>
          <a:p>
            <a:r>
              <a:rPr lang="en-US" dirty="0"/>
              <a:t>Cover only one rate-hike cycle in a relatively short panel.</a:t>
            </a:r>
          </a:p>
        </p:txBody>
      </p:sp>
    </p:spTree>
    <p:extLst>
      <p:ext uri="{BB962C8B-B14F-4D97-AF65-F5344CB8AC3E}">
        <p14:creationId xmlns:p14="http://schemas.microsoft.com/office/powerpoint/2010/main" val="3919488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4D2C3-A1CA-852A-269D-298141C043A6}"/>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6D40332B-FA19-ECA7-07B6-0315A009B390}"/>
              </a:ext>
            </a:extLst>
          </p:cNvPr>
          <p:cNvSpPr>
            <a:spLocks noGrp="1"/>
          </p:cNvSpPr>
          <p:nvPr>
            <p:ph idx="1"/>
          </p:nvPr>
        </p:nvSpPr>
        <p:spPr/>
        <p:txBody>
          <a:bodyPr/>
          <a:lstStyle/>
          <a:p>
            <a:r>
              <a:rPr lang="en-US" dirty="0"/>
              <a:t>If interested I will send you my final draft in a few days.</a:t>
            </a:r>
          </a:p>
        </p:txBody>
      </p:sp>
    </p:spTree>
    <p:extLst>
      <p:ext uri="{BB962C8B-B14F-4D97-AF65-F5344CB8AC3E}">
        <p14:creationId xmlns:p14="http://schemas.microsoft.com/office/powerpoint/2010/main" val="896567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534</TotalTime>
  <Words>6412</Words>
  <Application>Microsoft Office PowerPoint</Application>
  <PresentationFormat>Widescreen</PresentationFormat>
  <Paragraphs>298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Monetary Policy, Deposit Funding Shocks, and Bank Credit Supply: Bank-Level IV Evidence </vt:lpstr>
      <vt:lpstr>Outline</vt:lpstr>
      <vt:lpstr>Motivation</vt:lpstr>
      <vt:lpstr>Background</vt:lpstr>
      <vt:lpstr>Dreschsler, Savov and Schnabl 2016</vt:lpstr>
      <vt:lpstr>Begenau &amp; Stafford 2023</vt:lpstr>
      <vt:lpstr>My Theoretical critiques</vt:lpstr>
      <vt:lpstr>My reframed deposit channel</vt:lpstr>
      <vt:lpstr>Empirical strategy</vt:lpstr>
      <vt:lpstr>Data and Sample</vt:lpstr>
      <vt:lpstr>Key bank-level outcomes</vt:lpstr>
      <vt:lpstr>Pre-tightening exposure measures</vt:lpstr>
      <vt:lpstr>Policy shock and “predicted funding shocks”</vt:lpstr>
      <vt:lpstr>Regressions</vt:lpstr>
      <vt:lpstr>Imperfect Passthrough</vt:lpstr>
      <vt:lpstr>First-stage results</vt:lpstr>
      <vt:lpstr>Second-stage results</vt:lpstr>
      <vt:lpstr>Discussion - Summary</vt:lpstr>
      <vt:lpstr>Discussion – Suggestive Micro mechanism</vt:lpstr>
      <vt:lpstr>Discussion – Policy Implications</vt:lpstr>
      <vt:lpstr>Contributions</vt:lpstr>
      <vt:lpstr>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Chenning Xu</dc:creator>
  <cp:lastModifiedBy>Chenning Xu</cp:lastModifiedBy>
  <cp:revision>14</cp:revision>
  <dcterms:created xsi:type="dcterms:W3CDTF">2025-12-09T23:46:56Z</dcterms:created>
  <dcterms:modified xsi:type="dcterms:W3CDTF">2025-12-10T22:39:50Z</dcterms:modified>
</cp:coreProperties>
</file>